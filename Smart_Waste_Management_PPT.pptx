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ACFCA41-7221-4674-B144-DCA2F1B7582E}">
  <a:tblStyle styleId="{DACFCA41-7221-4674-B144-DCA2F1B7582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 name="Google Shape;6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5" name="Shape 15"/>
        <p:cNvGrpSpPr/>
        <p:nvPr/>
      </p:nvGrpSpPr>
      <p:grpSpPr>
        <a:xfrm>
          <a:off x="0" y="0"/>
          <a:ext cx="0" cy="0"/>
          <a:chOff x="0" y="0"/>
          <a:chExt cx="0" cy="0"/>
        </a:xfrm>
      </p:grpSpPr>
      <p:sp>
        <p:nvSpPr>
          <p:cNvPr id="16" name="Google Shape;16;p3"/>
          <p:cNvSpPr/>
          <p:nvPr/>
        </p:nvSpPr>
        <p:spPr>
          <a:xfrm>
            <a:off x="10424160" y="-1463040"/>
            <a:ext cx="3108960" cy="3108960"/>
          </a:xfrm>
          <a:prstGeom prst="ellipse">
            <a:avLst/>
          </a:prstGeom>
          <a:solidFill>
            <a:srgbClr val="1C7293">
              <a:alpha val="1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p:nvPr/>
        </p:nvSpPr>
        <p:spPr>
          <a:xfrm>
            <a:off x="-1097280" y="5669280"/>
            <a:ext cx="2194560" cy="2194560"/>
          </a:xfrm>
          <a:prstGeom prst="ellipse">
            <a:avLst/>
          </a:prstGeom>
          <a:solidFill>
            <a:srgbClr val="CFE3EE">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3"/>
          <p:cNvSpPr/>
          <p:nvPr/>
        </p:nvSpPr>
        <p:spPr>
          <a:xfrm>
            <a:off x="914400" y="1691640"/>
            <a:ext cx="10360152"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1" i="0" lang="en-US" sz="2700" u="none" cap="none" strike="noStrike">
                <a:solidFill>
                  <a:srgbClr val="FFFFFF"/>
                </a:solidFill>
                <a:latin typeface="Calibri"/>
                <a:ea typeface="Calibri"/>
                <a:cs typeface="Calibri"/>
                <a:sym typeface="Calibri"/>
              </a:rPr>
              <a:t>LLOYD INSTITUTE OF ENGINEERING &amp; TECHNOLOGY</a:t>
            </a:r>
            <a:endParaRPr b="0" i="0" sz="2700" u="none" cap="none" strike="noStrike">
              <a:solidFill>
                <a:schemeClr val="dk1"/>
              </a:solidFill>
              <a:latin typeface="Calibri"/>
              <a:ea typeface="Calibri"/>
              <a:cs typeface="Calibri"/>
              <a:sym typeface="Calibri"/>
            </a:endParaRPr>
          </a:p>
        </p:txBody>
      </p:sp>
      <p:sp>
        <p:nvSpPr>
          <p:cNvPr id="19" name="Google Shape;19;p3"/>
          <p:cNvSpPr/>
          <p:nvPr/>
        </p:nvSpPr>
        <p:spPr>
          <a:xfrm>
            <a:off x="914400" y="2114821"/>
            <a:ext cx="10360200" cy="274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FE3EE"/>
              </a:buClr>
              <a:buSzPts val="1250"/>
              <a:buFont typeface="Calibri"/>
              <a:buNone/>
            </a:pPr>
            <a:r>
              <a:rPr b="0" i="0" lang="en-US" sz="1650" u="none" cap="none" strike="noStrike">
                <a:solidFill>
                  <a:srgbClr val="CFE3EE"/>
                </a:solidFill>
                <a:latin typeface="Calibri"/>
                <a:ea typeface="Calibri"/>
                <a:cs typeface="Calibri"/>
                <a:sym typeface="Calibri"/>
              </a:rPr>
              <a:t>Greater Noida  |  Department of Computer Science &amp; Engineering</a:t>
            </a:r>
            <a:endParaRPr b="0" i="0" sz="1650" u="none" cap="none" strike="noStrike">
              <a:solidFill>
                <a:schemeClr val="dk1"/>
              </a:solidFill>
              <a:latin typeface="Calibri"/>
              <a:ea typeface="Calibri"/>
              <a:cs typeface="Calibri"/>
              <a:sym typeface="Calibri"/>
            </a:endParaRPr>
          </a:p>
        </p:txBody>
      </p:sp>
      <p:sp>
        <p:nvSpPr>
          <p:cNvPr id="20" name="Google Shape;20;p3"/>
          <p:cNvSpPr/>
          <p:nvPr/>
        </p:nvSpPr>
        <p:spPr>
          <a:xfrm>
            <a:off x="914400" y="2715775"/>
            <a:ext cx="103602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6FB6CE"/>
              </a:buClr>
              <a:buSzPts val="1200"/>
              <a:buFont typeface="Calibri"/>
              <a:buNone/>
            </a:pPr>
            <a:r>
              <a:rPr b="1" i="0" lang="en-US" sz="2000" u="none" cap="none" strike="noStrike">
                <a:solidFill>
                  <a:srgbClr val="6FB6CE"/>
                </a:solidFill>
                <a:latin typeface="Calibri"/>
                <a:ea typeface="Calibri"/>
                <a:cs typeface="Calibri"/>
                <a:sym typeface="Calibri"/>
              </a:rPr>
              <a:t>B.TECH </a:t>
            </a:r>
            <a:r>
              <a:rPr b="1" lang="en-US" sz="2000">
                <a:solidFill>
                  <a:srgbClr val="6FB6CE"/>
                </a:solidFill>
                <a:latin typeface="Calibri"/>
                <a:ea typeface="Calibri"/>
                <a:cs typeface="Calibri"/>
                <a:sym typeface="Calibri"/>
              </a:rPr>
              <a:t>SECOND</a:t>
            </a:r>
            <a:r>
              <a:rPr b="1" i="0" lang="en-US" sz="2000" u="none" cap="none" strike="noStrike">
                <a:solidFill>
                  <a:srgbClr val="6FB6CE"/>
                </a:solidFill>
                <a:latin typeface="Calibri"/>
                <a:ea typeface="Calibri"/>
                <a:cs typeface="Calibri"/>
                <a:sym typeface="Calibri"/>
              </a:rPr>
              <a:t> YEAR M</a:t>
            </a:r>
            <a:r>
              <a:rPr b="1" lang="en-US" sz="2000">
                <a:solidFill>
                  <a:srgbClr val="6FB6CE"/>
                </a:solidFill>
                <a:latin typeface="Calibri"/>
                <a:ea typeface="Calibri"/>
                <a:cs typeface="Calibri"/>
                <a:sym typeface="Calibri"/>
              </a:rPr>
              <a:t>INI</a:t>
            </a:r>
            <a:r>
              <a:rPr b="1" i="0" lang="en-US" sz="2000" u="none" cap="none" strike="noStrike">
                <a:solidFill>
                  <a:srgbClr val="6FB6CE"/>
                </a:solidFill>
                <a:latin typeface="Calibri"/>
                <a:ea typeface="Calibri"/>
                <a:cs typeface="Calibri"/>
                <a:sym typeface="Calibri"/>
              </a:rPr>
              <a:t> PROJECT  ·  BC</a:t>
            </a:r>
            <a:r>
              <a:rPr b="1" lang="en-US" sz="2000">
                <a:solidFill>
                  <a:srgbClr val="6FB6CE"/>
                </a:solidFill>
                <a:latin typeface="Calibri"/>
                <a:ea typeface="Calibri"/>
                <a:cs typeface="Calibri"/>
                <a:sym typeface="Calibri"/>
              </a:rPr>
              <a:t>C351</a:t>
            </a:r>
            <a:endParaRPr b="0" i="0" sz="2000" u="none" cap="none" strike="noStrike">
              <a:solidFill>
                <a:schemeClr val="dk1"/>
              </a:solidFill>
              <a:latin typeface="Calibri"/>
              <a:ea typeface="Calibri"/>
              <a:cs typeface="Calibri"/>
              <a:sym typeface="Calibri"/>
            </a:endParaRPr>
          </a:p>
        </p:txBody>
      </p:sp>
      <p:sp>
        <p:nvSpPr>
          <p:cNvPr id="21" name="Google Shape;21;p3"/>
          <p:cNvSpPr/>
          <p:nvPr/>
        </p:nvSpPr>
        <p:spPr>
          <a:xfrm>
            <a:off x="1280160" y="3200400"/>
            <a:ext cx="9628632" cy="1371600"/>
          </a:xfrm>
          <a:prstGeom prst="roundRect">
            <a:avLst>
              <a:gd fmla="val 8000" name="adj"/>
            </a:avLst>
          </a:pr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3"/>
          <p:cNvSpPr/>
          <p:nvPr/>
        </p:nvSpPr>
        <p:spPr>
          <a:xfrm>
            <a:off x="1463040" y="3200400"/>
            <a:ext cx="9262872" cy="1371600"/>
          </a:xfrm>
          <a:prstGeom prst="rect">
            <a:avLst/>
          </a:prstGeom>
          <a:noFill/>
          <a:ln>
            <a:noFill/>
          </a:ln>
        </p:spPr>
        <p:txBody>
          <a:bodyPr anchorCtr="0" anchor="ctr" bIns="45700" lIns="91425" spcFirstLastPara="1" rIns="91425" wrap="square" tIns="45700">
            <a:noAutofit/>
          </a:bodyPr>
          <a:lstStyle/>
          <a:p>
            <a:pPr marL="0" indent="0" lvl="0" rtl="0" algn="ctr">
              <a:lnSpc>
                <a:spcPct val="100000"/>
              </a:lnSpc>
              <a:spcBef>
                <a:spcPts val="0"/>
              </a:spcBef>
              <a:spcAft>
                <a:spcPts val="0"/>
              </a:spcAft>
              <a:buNone/>
            </a:pPr>
            <a:r>
              <a:rPr lang="en-US" sz="2400" b="1" i="0" u="none" cap="none" strike="noStrike" dirty="0">
                <a:solidFill>
                  <a:srgbClr val="FFFFFF"/>
                </a:solidFill>
                <a:latin typeface="Cambria"/>
                <a:ea typeface="Cambria"/>
                <a:cs typeface="Cambria"/>
                <a:sym typeface="Cambria"/>
              </a:rPr>
              <a:t>Smart Waste Management &amp; Bin-Level Monitoring</a:t>
            </a:r>
          </a:p>
        </p:txBody>
      </p:sp>
      <p:sp>
        <p:nvSpPr>
          <p:cNvPr id="23" name="Google Shape;23;p3"/>
          <p:cNvSpPr/>
          <p:nvPr/>
        </p:nvSpPr>
        <p:spPr>
          <a:xfrm>
            <a:off x="914400" y="4709160"/>
            <a:ext cx="10360152" cy="3200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FE3EE"/>
              </a:buClr>
              <a:buSzPts val="1300"/>
              <a:buFont typeface="Calibri"/>
              <a:buNone/>
            </a:pPr>
            <a:r>
              <a:rPr b="0" i="1" lang="en-US" sz="1500" u="none" cap="none" strike="noStrike">
                <a:solidFill>
                  <a:srgbClr val="CFE3EE"/>
                </a:solidFill>
                <a:latin typeface="Calibri"/>
                <a:ea typeface="Calibri"/>
                <a:cs typeface="Calibri"/>
                <a:sym typeface="Calibri"/>
              </a:rPr>
              <a:t>Project Presentation – I   |   Session 2026–27</a:t>
            </a:r>
            <a:endParaRPr b="0" i="0" sz="1500" u="none" cap="none" strike="noStrike">
              <a:solidFill>
                <a:schemeClr val="dk1"/>
              </a:solidFill>
              <a:latin typeface="Calibri"/>
              <a:ea typeface="Calibri"/>
              <a:cs typeface="Calibri"/>
              <a:sym typeface="Calibri"/>
            </a:endParaRPr>
          </a:p>
        </p:txBody>
      </p:sp>
      <p:cxnSp>
        <p:nvCxnSpPr>
          <p:cNvPr id="24" name="Google Shape;24;p3"/>
          <p:cNvCxnSpPr/>
          <p:nvPr/>
        </p:nvCxnSpPr>
        <p:spPr>
          <a:xfrm>
            <a:off x="6094476" y="5257800"/>
            <a:ext cx="0" cy="1188720"/>
          </a:xfrm>
          <a:prstGeom prst="straightConnector1">
            <a:avLst/>
          </a:prstGeom>
          <a:noFill/>
          <a:ln cap="flat" cmpd="sng" w="9525">
            <a:solidFill>
              <a:srgbClr val="FFFFFF">
                <a:alpha val="30196"/>
              </a:srgbClr>
            </a:solidFill>
            <a:prstDash val="solid"/>
            <a:round/>
            <a:headEnd len="sm" w="sm" type="none"/>
            <a:tailEnd len="sm" w="sm" type="none"/>
          </a:ln>
        </p:spPr>
      </p:cxnSp>
      <p:sp>
        <p:nvSpPr>
          <p:cNvPr id="25" name="Google Shape;25;p3"/>
          <p:cNvSpPr/>
          <p:nvPr/>
        </p:nvSpPr>
        <p:spPr>
          <a:xfrm>
            <a:off x="914400" y="5303520"/>
            <a:ext cx="4114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FB6CE"/>
              </a:buClr>
              <a:buSzPts val="1050"/>
              <a:buFont typeface="Calibri"/>
              <a:buNone/>
            </a:pPr>
            <a:r>
              <a:rPr b="1" i="0" lang="en-US" sz="1150" u="none" cap="none" strike="noStrike">
                <a:solidFill>
                  <a:srgbClr val="6FB6CE"/>
                </a:solidFill>
                <a:latin typeface="Calibri"/>
                <a:ea typeface="Calibri"/>
                <a:cs typeface="Calibri"/>
                <a:sym typeface="Calibri"/>
              </a:rPr>
              <a:t>GUIDE NAME</a:t>
            </a:r>
            <a:endParaRPr b="0" i="0" sz="1250" u="none" cap="none" strike="noStrike">
              <a:solidFill>
                <a:schemeClr val="dk1"/>
              </a:solidFill>
              <a:latin typeface="Calibri"/>
              <a:ea typeface="Calibri"/>
              <a:cs typeface="Calibri"/>
              <a:sym typeface="Calibri"/>
            </a:endParaRPr>
          </a:p>
        </p:txBody>
      </p:sp>
      <p:sp>
        <p:nvSpPr>
          <p:cNvPr id="26" name="Google Shape;26;p3"/>
          <p:cNvSpPr/>
          <p:nvPr/>
        </p:nvSpPr>
        <p:spPr>
          <a:xfrm>
            <a:off x="914400" y="5577840"/>
            <a:ext cx="4480560" cy="365760"/>
          </a:xfrm>
          <a:prstGeom prst="rect">
            <a:avLst/>
          </a:prstGeom>
          <a:noFill/>
          <a:ln>
            <a:noFill/>
          </a:ln>
        </p:spPr>
        <p:txBody>
          <a:bodyPr anchorCtr="0" anchor="ctr" bIns="45700" lIns="91425" spcFirstLastPara="1" rIns="91425" wrap="square" tIns="45700">
            <a:noAutofit/>
          </a:bodyPr>
          <a:lstStyle/>
          <a:p>
            <a:pPr marL="0" indent="0" lvl="0" rtl="0" algn="l">
              <a:lnSpc>
                <a:spcPct val="100000"/>
              </a:lnSpc>
              <a:spcBef>
                <a:spcPts val="0"/>
              </a:spcBef>
              <a:spcAft>
                <a:spcPts val="0"/>
              </a:spcAft>
              <a:buNone/>
            </a:pPr>
            <a:r>
              <a:rPr lang="en-US" sz="1400" b="1" i="0" u="none" cap="none" strike="noStrike" dirty="0">
                <a:solidFill>
                  <a:srgbClr val="FFFFFF"/>
                </a:solidFill>
                <a:latin typeface="Calibri"/>
                <a:ea typeface="Calibri"/>
                <a:cs typeface="Calibri"/>
                <a:sym typeface="Calibri"/>
              </a:rPr>
              <a:t>[Guide Name]</a:t>
            </a:r>
          </a:p>
        </p:txBody>
      </p:sp>
      <p:sp>
        <p:nvSpPr>
          <p:cNvPr id="27" name="Google Shape;27;p3"/>
          <p:cNvSpPr/>
          <p:nvPr/>
        </p:nvSpPr>
        <p:spPr>
          <a:xfrm>
            <a:off x="914400" y="5989320"/>
            <a:ext cx="4480560" cy="320040"/>
          </a:xfrm>
          <a:prstGeom prst="rect">
            <a:avLst/>
          </a:prstGeom>
          <a:noFill/>
          <a:ln>
            <a:noFill/>
          </a:ln>
        </p:spPr>
        <p:txBody>
          <a:bodyPr anchorCtr="0" anchor="ctr" bIns="45700" lIns="91425" spcFirstLastPara="1" rIns="91425" wrap="square" tIns="45700">
            <a:noAutofit/>
          </a:bodyPr>
          <a:lstStyle/>
          <a:p>
            <a:pPr marL="0" indent="0" lvl="0" rtl="0" algn="l">
              <a:lnSpc>
                <a:spcPct val="100000"/>
              </a:lnSpc>
              <a:spcBef>
                <a:spcPts val="0"/>
              </a:spcBef>
              <a:spcAft>
                <a:spcPts val="0"/>
              </a:spcAft>
              <a:buNone/>
            </a:pPr>
            <a:r>
              <a:rPr lang="en-US" sz="1200" b="0" i="0" u="none" cap="none" strike="noStrike" dirty="0">
                <a:solidFill>
                  <a:srgbClr val="CFE3EE"/>
                </a:solidFill>
                <a:latin typeface="Calibri"/>
                <a:ea typeface="Calibri"/>
                <a:cs typeface="Calibri"/>
                <a:sym typeface="Calibri"/>
              </a:rPr>
              <a:t>Assistant Professor, Department of CSE</a:t>
            </a:r>
          </a:p>
        </p:txBody>
      </p:sp>
      <p:sp>
        <p:nvSpPr>
          <p:cNvPr id="28" name="Google Shape;28;p3"/>
          <p:cNvSpPr/>
          <p:nvPr/>
        </p:nvSpPr>
        <p:spPr>
          <a:xfrm>
            <a:off x="7316451" y="5303525"/>
            <a:ext cx="4022100" cy="274200"/>
          </a:xfrm>
          <a:prstGeom prst="rect">
            <a:avLst/>
          </a:prstGeom>
          <a:noFill/>
          <a:ln>
            <a:noFill/>
          </a:ln>
        </p:spPr>
        <p:txBody>
          <a:bodyPr anchorCtr="0" anchor="ctr" bIns="45700" lIns="91425" spcFirstLastPara="1" rIns="91425" wrap="square" tIns="45700">
            <a:noAutofit/>
          </a:bodyPr>
          <a:lstStyle/>
          <a:p>
            <a:pPr marL="0" indent="0" lvl="0" rtl="0" algn="l">
              <a:lnSpc>
                <a:spcPct val="100000"/>
              </a:lnSpc>
              <a:spcBef>
                <a:spcPts val="0"/>
              </a:spcBef>
              <a:spcAft>
                <a:spcPts val="0"/>
              </a:spcAft>
              <a:buNone/>
            </a:pPr>
            <a:r>
              <a:rPr lang="en-US" sz="1250" b="1" i="0" u="none" cap="none" strike="noStrike" dirty="0">
                <a:solidFill>
                  <a:srgbClr val="6FB6CE"/>
                </a:solidFill>
                <a:latin typeface="Calibri"/>
                <a:ea typeface="Calibri"/>
                <a:cs typeface="Calibri"/>
                <a:sym typeface="Calibri"/>
              </a:rPr>
              <a:t>SUBMITTED BY</a:t>
            </a:r>
          </a:p>
        </p:txBody>
      </p:sp>
      <p:sp>
        <p:nvSpPr>
          <p:cNvPr id="29" name="Google Shape;29;p3"/>
          <p:cNvSpPr/>
          <p:nvPr/>
        </p:nvSpPr>
        <p:spPr>
          <a:xfrm>
            <a:off x="7316451" y="5577850"/>
            <a:ext cx="4022100" cy="1005900"/>
          </a:xfrm>
          <a:prstGeom prst="rect">
            <a:avLst/>
          </a:prstGeom>
          <a:noFill/>
          <a:ln>
            <a:noFill/>
          </a:ln>
        </p:spPr>
        <p:txBody>
          <a:bodyPr anchorCtr="0" anchor="t" bIns="45700" lIns="91425" spcFirstLastPara="1" rIns="91425" wrap="square" tIns="45700">
            <a:noAutofit/>
          </a:bodyPr>
          <a:lstStyle/>
          <a:p>
            <a:pPr marL="0" indent="0" lvl="0" rtl="0" algn="l">
              <a:lnSpc>
                <a:spcPct val="135000"/>
              </a:lnSpc>
              <a:spcBef>
                <a:spcPts val="0"/>
              </a:spcBef>
              <a:spcAft>
                <a:spcPts val="0"/>
              </a:spcAft>
              <a:buNone/>
            </a:pPr>
            <a:r>
              <a:rPr lang="en-US" sz="1250" b="0" i="0" u="none" cap="none" strike="noStrike" dirty="0">
                <a:solidFill>
                  <a:srgbClr val="FFFFFF"/>
                </a:solidFill>
                <a:latin typeface="Calibri"/>
                <a:ea typeface="Calibri"/>
                <a:cs typeface="Calibri"/>
                <a:sym typeface="Calibri"/>
              </a:rPr>
              <a:t>Aradhya Mahalwar</a:t>
            </a:r>
          </a:p>
          <a:p>
            <a:pPr marL="0" indent="0" lvl="0" rtl="0" algn="l">
              <a:lnSpc>
                <a:spcPct val="135000"/>
              </a:lnSpc>
              <a:spcBef>
                <a:spcPts val="0"/>
              </a:spcBef>
              <a:spcAft>
                <a:spcPts val="0"/>
              </a:spcAft>
              <a:buNone/>
            </a:pPr>
            <a:r>
              <a:rPr lang="en-US" sz="1250" b="0" i="0" u="none" cap="none" strike="noStrike" dirty="0">
                <a:solidFill>
                  <a:srgbClr val="FFFFFF"/>
                </a:solidFill>
                <a:latin typeface="Calibri"/>
                <a:ea typeface="Calibri"/>
                <a:cs typeface="Calibri"/>
                <a:sym typeface="Calibri"/>
              </a:rPr>
              <a:t>Roll No. 2501531530048</a:t>
            </a:r>
          </a:p>
          <a:p>
            <a:pPr marL="0" indent="0" lvl="0" rtl="0" algn="l">
              <a:lnSpc>
                <a:spcPct val="135000"/>
              </a:lnSpc>
              <a:spcBef>
                <a:spcPts val="0"/>
              </a:spcBef>
              <a:spcAft>
                <a:spcPts val="0"/>
              </a:spcAft>
              <a:buNone/>
            </a:pPr>
            <a:r>
              <a:rPr lang="en-US" sz="1250" b="0" i="0" u="none" cap="none" strike="noStrike" dirty="0">
                <a:solidFill>
                  <a:srgbClr val="FFFFFF"/>
                </a:solidFill>
                <a:latin typeface="Calibri"/>
                <a:ea typeface="Calibri"/>
                <a:cs typeface="Calibri"/>
                <a:sym typeface="Calibri"/>
              </a:rPr>
              <a:t>Sec 2E</a:t>
            </a:r>
          </a:p>
        </p:txBody>
      </p:sp>
      <p:pic>
        <p:nvPicPr>
          <p:cNvPr id="30" name="Google Shape;30;p3" title="LLOYD-logo.png"/>
          <p:cNvPicPr preferRelativeResize="0"/>
          <p:nvPr/>
        </p:nvPicPr>
        <p:blipFill rotWithShape="1">
          <a:blip r:embed="rId3">
            <a:alphaModFix/>
          </a:blip>
          <a:srcRect b="0" l="0" r="0" t="0"/>
          <a:stretch/>
        </p:blipFill>
        <p:spPr>
          <a:xfrm>
            <a:off x="5591563" y="424800"/>
            <a:ext cx="1005835" cy="998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35" name="Shape 35"/>
        <p:cNvGrpSpPr/>
        <p:nvPr/>
      </p:nvGrpSpPr>
      <p:grpSpPr>
        <a:xfrm>
          <a:off x="0" y="0"/>
          <a:ext cx="0" cy="0"/>
          <a:chOff x="0" y="0"/>
          <a:chExt cx="0" cy="0"/>
        </a:xfrm>
      </p:grpSpPr>
      <p:sp>
        <p:nvSpPr>
          <p:cNvPr id="36" name="Google Shape;36;p4"/>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4"/>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01</a:t>
            </a:r>
            <a:endParaRPr b="0" i="0" sz="1600" u="none" cap="none" strike="noStrike">
              <a:solidFill>
                <a:schemeClr val="dk1"/>
              </a:solidFill>
              <a:latin typeface="Calibri"/>
              <a:ea typeface="Calibri"/>
              <a:cs typeface="Calibri"/>
              <a:sym typeface="Calibri"/>
            </a:endParaRPr>
          </a:p>
        </p:txBody>
      </p:sp>
      <p:sp>
        <p:nvSpPr>
          <p:cNvPr id="40" name="Google Shape;40;p4"/>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OVERVIEW</a:t>
            </a:r>
            <a:endParaRPr b="0" i="0" sz="1100" u="none" cap="none" strike="noStrike">
              <a:solidFill>
                <a:schemeClr val="dk1"/>
              </a:solidFill>
              <a:latin typeface="Calibri"/>
              <a:ea typeface="Calibri"/>
              <a:cs typeface="Calibri"/>
              <a:sym typeface="Calibri"/>
            </a:endParaRPr>
          </a:p>
        </p:txBody>
      </p:sp>
      <p:sp>
        <p:nvSpPr>
          <p:cNvPr id="41" name="Google Shape;41;p4"/>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Presentation Agenda</a:t>
            </a:r>
            <a:endParaRPr b="0" i="0" sz="3000" u="none" cap="none" strike="noStrike">
              <a:solidFill>
                <a:schemeClr val="dk1"/>
              </a:solidFill>
              <a:latin typeface="Calibri"/>
              <a:ea typeface="Calibri"/>
              <a:cs typeface="Calibri"/>
              <a:sym typeface="Calibri"/>
            </a:endParaRPr>
          </a:p>
        </p:txBody>
      </p:sp>
      <p:sp>
        <p:nvSpPr>
          <p:cNvPr id="42" name="Google Shape;42;p4"/>
          <p:cNvSpPr/>
          <p:nvPr/>
        </p:nvSpPr>
        <p:spPr>
          <a:xfrm>
            <a:off x="914400" y="1600200"/>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
          <p:cNvSpPr/>
          <p:nvPr/>
        </p:nvSpPr>
        <p:spPr>
          <a:xfrm>
            <a:off x="914400" y="1600200"/>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4" name="Google Shape;44;p4"/>
          <p:cNvSpPr/>
          <p:nvPr/>
        </p:nvSpPr>
        <p:spPr>
          <a:xfrm>
            <a:off x="1536192" y="1581912"/>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Problem Statement</a:t>
            </a:r>
            <a:endParaRPr b="0" i="0" sz="1600" u="none" cap="none" strike="noStrike">
              <a:solidFill>
                <a:schemeClr val="dk1"/>
              </a:solidFill>
              <a:latin typeface="Calibri"/>
              <a:ea typeface="Calibri"/>
              <a:cs typeface="Calibri"/>
              <a:sym typeface="Calibri"/>
            </a:endParaRPr>
          </a:p>
        </p:txBody>
      </p:sp>
      <p:sp>
        <p:nvSpPr>
          <p:cNvPr id="45" name="Google Shape;45;p4"/>
          <p:cNvSpPr/>
          <p:nvPr/>
        </p:nvSpPr>
        <p:spPr>
          <a:xfrm>
            <a:off x="914400" y="2258568"/>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4"/>
          <p:cNvSpPr/>
          <p:nvPr/>
        </p:nvSpPr>
        <p:spPr>
          <a:xfrm>
            <a:off x="914400" y="2258568"/>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47" name="Google Shape;47;p4"/>
          <p:cNvSpPr/>
          <p:nvPr/>
        </p:nvSpPr>
        <p:spPr>
          <a:xfrm>
            <a:off x="1536192" y="2240280"/>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Objectives</a:t>
            </a:r>
            <a:endParaRPr b="0" i="0" sz="1600" u="none" cap="none" strike="noStrike">
              <a:solidFill>
                <a:schemeClr val="dk1"/>
              </a:solidFill>
              <a:latin typeface="Calibri"/>
              <a:ea typeface="Calibri"/>
              <a:cs typeface="Calibri"/>
              <a:sym typeface="Calibri"/>
            </a:endParaRPr>
          </a:p>
        </p:txBody>
      </p:sp>
      <p:sp>
        <p:nvSpPr>
          <p:cNvPr id="48" name="Google Shape;48;p4"/>
          <p:cNvSpPr/>
          <p:nvPr/>
        </p:nvSpPr>
        <p:spPr>
          <a:xfrm>
            <a:off x="914400" y="2916936"/>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
          <p:cNvSpPr/>
          <p:nvPr/>
        </p:nvSpPr>
        <p:spPr>
          <a:xfrm>
            <a:off x="914400" y="2916936"/>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0" name="Google Shape;50;p4"/>
          <p:cNvSpPr/>
          <p:nvPr/>
        </p:nvSpPr>
        <p:spPr>
          <a:xfrm>
            <a:off x="1536192" y="2898648"/>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Technology Stack</a:t>
            </a:r>
            <a:endParaRPr b="0" i="0" sz="1600" u="none" cap="none" strike="noStrike">
              <a:solidFill>
                <a:schemeClr val="dk1"/>
              </a:solidFill>
              <a:latin typeface="Calibri"/>
              <a:ea typeface="Calibri"/>
              <a:cs typeface="Calibri"/>
              <a:sym typeface="Calibri"/>
            </a:endParaRPr>
          </a:p>
        </p:txBody>
      </p:sp>
      <p:sp>
        <p:nvSpPr>
          <p:cNvPr id="51" name="Google Shape;51;p4"/>
          <p:cNvSpPr/>
          <p:nvPr/>
        </p:nvSpPr>
        <p:spPr>
          <a:xfrm>
            <a:off x="914400" y="3575304"/>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4"/>
          <p:cNvSpPr/>
          <p:nvPr/>
        </p:nvSpPr>
        <p:spPr>
          <a:xfrm>
            <a:off x="914400" y="3575304"/>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53" name="Google Shape;53;p4"/>
          <p:cNvSpPr/>
          <p:nvPr/>
        </p:nvSpPr>
        <p:spPr>
          <a:xfrm>
            <a:off x="1536192" y="3557016"/>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Literature Survey</a:t>
            </a:r>
            <a:endParaRPr b="0" i="0" sz="1600" u="none" cap="none" strike="noStrike">
              <a:solidFill>
                <a:schemeClr val="dk1"/>
              </a:solidFill>
              <a:latin typeface="Calibri"/>
              <a:ea typeface="Calibri"/>
              <a:cs typeface="Calibri"/>
              <a:sym typeface="Calibri"/>
            </a:endParaRPr>
          </a:p>
        </p:txBody>
      </p:sp>
      <p:sp>
        <p:nvSpPr>
          <p:cNvPr id="54" name="Google Shape;54;p4"/>
          <p:cNvSpPr/>
          <p:nvPr/>
        </p:nvSpPr>
        <p:spPr>
          <a:xfrm>
            <a:off x="6309360" y="1600200"/>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4"/>
          <p:cNvSpPr/>
          <p:nvPr/>
        </p:nvSpPr>
        <p:spPr>
          <a:xfrm>
            <a:off x="6309360" y="1600200"/>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56" name="Google Shape;56;p4"/>
          <p:cNvSpPr/>
          <p:nvPr/>
        </p:nvSpPr>
        <p:spPr>
          <a:xfrm>
            <a:off x="6931152" y="1581912"/>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System Workflow / Architecture</a:t>
            </a:r>
            <a:endParaRPr b="0" i="0" sz="1600" u="none" cap="none" strike="noStrike">
              <a:solidFill>
                <a:schemeClr val="dk1"/>
              </a:solidFill>
              <a:latin typeface="Calibri"/>
              <a:ea typeface="Calibri"/>
              <a:cs typeface="Calibri"/>
              <a:sym typeface="Calibri"/>
            </a:endParaRPr>
          </a:p>
        </p:txBody>
      </p:sp>
      <p:sp>
        <p:nvSpPr>
          <p:cNvPr id="57" name="Google Shape;57;p4"/>
          <p:cNvSpPr/>
          <p:nvPr/>
        </p:nvSpPr>
        <p:spPr>
          <a:xfrm>
            <a:off x="6309360" y="2258568"/>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4"/>
          <p:cNvSpPr/>
          <p:nvPr/>
        </p:nvSpPr>
        <p:spPr>
          <a:xfrm>
            <a:off x="6309360" y="2258568"/>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59" name="Google Shape;59;p4"/>
          <p:cNvSpPr/>
          <p:nvPr/>
        </p:nvSpPr>
        <p:spPr>
          <a:xfrm>
            <a:off x="6931152" y="2240280"/>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Expected Outcome</a:t>
            </a:r>
            <a:endParaRPr b="0" i="0" sz="1600" u="none" cap="none" strike="noStrike">
              <a:solidFill>
                <a:schemeClr val="dk1"/>
              </a:solidFill>
              <a:latin typeface="Calibri"/>
              <a:ea typeface="Calibri"/>
              <a:cs typeface="Calibri"/>
              <a:sym typeface="Calibri"/>
            </a:endParaRPr>
          </a:p>
        </p:txBody>
      </p:sp>
      <p:sp>
        <p:nvSpPr>
          <p:cNvPr id="60" name="Google Shape;60;p4"/>
          <p:cNvSpPr/>
          <p:nvPr/>
        </p:nvSpPr>
        <p:spPr>
          <a:xfrm>
            <a:off x="6309360" y="2916936"/>
            <a:ext cx="420624" cy="420624"/>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4"/>
          <p:cNvSpPr/>
          <p:nvPr/>
        </p:nvSpPr>
        <p:spPr>
          <a:xfrm>
            <a:off x="6309360" y="2916936"/>
            <a:ext cx="420624" cy="4206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7</a:t>
            </a:r>
            <a:endParaRPr b="0" i="0" sz="1400" u="none" cap="none" strike="noStrike">
              <a:solidFill>
                <a:schemeClr val="dk1"/>
              </a:solidFill>
              <a:latin typeface="Calibri"/>
              <a:ea typeface="Calibri"/>
              <a:cs typeface="Calibri"/>
              <a:sym typeface="Calibri"/>
            </a:endParaRPr>
          </a:p>
        </p:txBody>
      </p:sp>
      <p:sp>
        <p:nvSpPr>
          <p:cNvPr id="62" name="Google Shape;62;p4"/>
          <p:cNvSpPr/>
          <p:nvPr/>
        </p:nvSpPr>
        <p:spPr>
          <a:xfrm>
            <a:off x="6931152" y="2898648"/>
            <a:ext cx="429768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B1F3B"/>
              </a:buClr>
              <a:buSzPts val="1600"/>
              <a:buFont typeface="Calibri"/>
              <a:buNone/>
            </a:pPr>
            <a:r>
              <a:rPr b="1" i="0" lang="en-US" sz="1600" u="none" cap="none" strike="noStrike">
                <a:solidFill>
                  <a:srgbClr val="1B1F3B"/>
                </a:solidFill>
                <a:latin typeface="Calibri"/>
                <a:ea typeface="Calibri"/>
                <a:cs typeface="Calibri"/>
                <a:sym typeface="Calibri"/>
              </a:rPr>
              <a:t>References</a:t>
            </a:r>
            <a:endParaRPr b="0" i="0" sz="1600" u="none" cap="none" strike="noStrike">
              <a:solidFill>
                <a:schemeClr val="dk1"/>
              </a:solidFill>
              <a:latin typeface="Calibri"/>
              <a:ea typeface="Calibri"/>
              <a:cs typeface="Calibri"/>
              <a:sym typeface="Calibri"/>
            </a:endParaRPr>
          </a:p>
        </p:txBody>
      </p:sp>
      <p:sp>
        <p:nvSpPr>
          <p:cNvPr id="63" name="Google Shape;63;p4"/>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BCC351  ·  B.TECH MINI PROJECT PRESENTATION</a:t>
            </a:r>
            <a:endParaRPr b="0" i="0" sz="900" u="none" cap="none" strike="noStrike">
              <a:solidFill>
                <a:schemeClr val="dk1"/>
              </a:solidFill>
              <a:latin typeface="Calibri"/>
              <a:ea typeface="Calibri"/>
              <a:cs typeface="Calibri"/>
              <a:sym typeface="Calibri"/>
            </a:endParaRPr>
          </a:p>
        </p:txBody>
      </p:sp>
      <p:sp>
        <p:nvSpPr>
          <p:cNvPr id="64" name="Google Shape;64;p4"/>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69" name="Shape 69"/>
        <p:cNvGrpSpPr/>
        <p:nvPr/>
      </p:nvGrpSpPr>
      <p:grpSpPr>
        <a:xfrm>
          <a:off x="0" y="0"/>
          <a:ext cx="0" cy="0"/>
          <a:chOff x="0" y="0"/>
          <a:chExt cx="0" cy="0"/>
        </a:xfrm>
      </p:grpSpPr>
      <p:sp>
        <p:nvSpPr>
          <p:cNvPr id="70" name="Google Shape;70;p5"/>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5"/>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5"/>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5"/>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02</a:t>
            </a:r>
            <a:endParaRPr b="0" i="0" sz="1600" u="none" cap="none" strike="noStrike">
              <a:solidFill>
                <a:schemeClr val="dk1"/>
              </a:solidFill>
              <a:latin typeface="Calibri"/>
              <a:ea typeface="Calibri"/>
              <a:cs typeface="Calibri"/>
              <a:sym typeface="Calibri"/>
            </a:endParaRPr>
          </a:p>
        </p:txBody>
      </p:sp>
      <p:sp>
        <p:nvSpPr>
          <p:cNvPr id="74" name="Google Shape;74;p5"/>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02</a:t>
            </a:r>
            <a:endParaRPr b="0" i="0" sz="1100" u="none" cap="none" strike="noStrike">
              <a:solidFill>
                <a:schemeClr val="dk1"/>
              </a:solidFill>
              <a:latin typeface="Calibri"/>
              <a:ea typeface="Calibri"/>
              <a:cs typeface="Calibri"/>
              <a:sym typeface="Calibri"/>
            </a:endParaRPr>
          </a:p>
        </p:txBody>
      </p:sp>
      <p:sp>
        <p:nvSpPr>
          <p:cNvPr id="75" name="Google Shape;75;p5"/>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Problem Statement</a:t>
            </a:r>
            <a:endParaRPr b="0" i="0" sz="3000" u="none" cap="none" strike="noStrike">
              <a:solidFill>
                <a:schemeClr val="dk1"/>
              </a:solidFill>
              <a:latin typeface="Calibri"/>
              <a:ea typeface="Calibri"/>
              <a:cs typeface="Calibri"/>
              <a:sym typeface="Calibri"/>
            </a:endParaRPr>
          </a:p>
        </p:txBody>
      </p:sp>
      <p:sp>
        <p:nvSpPr>
          <p:cNvPr id="76" name="Google Shape;76;p5"/>
          <p:cNvSpPr/>
          <p:nvPr/>
        </p:nvSpPr>
        <p:spPr>
          <a:xfrm>
            <a:off x="1234450" y="1543875"/>
            <a:ext cx="9849000" cy="4445400"/>
          </a:xfrm>
          <a:prstGeom prst="roundRect">
            <a:avLst>
              <a:gd fmla="val 2564" name="adj"/>
            </a:avLst>
          </a:prstGeom>
          <a:solidFill>
            <a:srgbClr val="FFFFFF"/>
          </a:solidFill>
          <a:ln cap="flat" cmpd="sng" w="12700">
            <a:solidFill>
              <a:srgbClr val="DEE4E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5"/>
          <p:cNvSpPr/>
          <p:nvPr/>
        </p:nvSpPr>
        <p:spPr>
          <a:xfrm>
            <a:off x="1554475" y="1772638"/>
            <a:ext cx="9106200" cy="4216800"/>
          </a:xfrm>
          <a:prstGeom prst="rect">
            <a:avLst/>
          </a:prstGeom>
          <a:noFill/>
          <a:ln>
            <a:noFill/>
          </a:ln>
        </p:spPr>
        <p:txBody>
          <a:bodyPr anchorCtr="0" anchor="ctr" bIns="45700" lIns="91425" spcFirstLastPara="1" rIns="91425" wrap="square" tIns="45700">
            <a:noAutofit/>
          </a:bodyPr>
          <a:lstStyle/>
          <a:p>
            <a:pPr marL="0" indent="0" lvl="0" rtl="0" algn="l">
              <a:lnSpc>
                <a:spcPct val="125000"/>
              </a:lnSpc>
              <a:spcBef>
                <a:spcPts val="0"/>
              </a:spcBef>
              <a:spcAft>
                <a:spcPts val="1400"/>
              </a:spcAft>
              <a:buNone/>
            </a:pPr>
            <a:r>
              <a:rPr lang="en-US" sz="1500" b="0" i="0" u="none" cap="none" strike="noStrike" dirty="0">
                <a:solidFill>
                  <a:srgbClr val="1B1F3B"/>
                </a:solidFill>
                <a:latin typeface="Calibri"/>
                <a:ea typeface="Calibri"/>
                <a:cs typeface="Calibri"/>
                <a:sym typeface="Calibri"/>
              </a:rPr>
              <a:t>Current waste management runs on fixed schedules and static collection routes that ignore how quickly each bin actually fills. Bins in busy areas overflow, causing hygiene problems and odor, while trucks waste fuel and time visiting bins that are still empty. There is no real-time monitoring or data to guide sanitation decisions, which makes the system inefficient and environmentally unsustainable. This project turns ordinary bins into IoT smart bins that report their fill level to the cloud and raise alerts before they overflow.</a:t>
            </a:r>
          </a:p>
          <a:p>
            <a:pPr marL="0" indent="0" lvl="0" rtl="0" algn="l">
              <a:lnSpc>
                <a:spcPct val="100000"/>
              </a:lnSpc>
              <a:spcBef>
                <a:spcPts val="0"/>
              </a:spcBef>
              <a:spcAft>
                <a:spcPts val="400"/>
              </a:spcAft>
              <a:buNone/>
            </a:pPr>
            <a:r>
              <a:rPr lang="en-US" sz="1200" b="1" i="0" u="none" cap="none" strike="noStrike" dirty="0">
                <a:solidFill>
                  <a:srgbClr val="1C7293"/>
                </a:solidFill>
                <a:latin typeface="Calibri"/>
                <a:ea typeface="Calibri"/>
                <a:cs typeface="Calibri"/>
                <a:sym typeface="Calibri"/>
              </a:rPr>
              <a:t>KEY ISSUES IN CURRENT SYSTEMS</a:t>
            </a:r>
          </a:p>
          <a:p>
            <a:pPr marL="228600" indent="-228600" lvl="0" rtl="0" algn="l">
              <a:lnSpc>
                <a:spcPct val="115000"/>
              </a:lnSpc>
              <a:spcBef>
                <a:spcPts val="0"/>
              </a:spcBef>
              <a:spcAft>
                <a:spcPts val="300"/>
              </a:spcAft>
              <a:buClr>
                <a:srgbClr val="1C7293"/>
              </a:buClr>
              <a:buFont typeface="Arial"/>
              <a:buChar char="•"/>
            </a:pPr>
            <a:r>
              <a:rPr lang="en-US" sz="1400" b="1" i="0" u="none" cap="none" strike="noStrike" dirty="0">
                <a:solidFill>
                  <a:srgbClr val="21295C"/>
                </a:solidFill>
                <a:latin typeface="Calibri"/>
                <a:ea typeface="Calibri"/>
                <a:cs typeface="Calibri"/>
                <a:sym typeface="Calibri"/>
              </a:rPr>
              <a:t>Static routes</a:t>
            </a:r>
            <a:r>
              <a:rPr lang="en-US" sz="1400" b="0" i="0" u="none" cap="none" strike="noStrike" dirty="0">
                <a:solidFill>
                  <a:srgbClr val="1B1F3B"/>
                </a:solidFill>
                <a:latin typeface="Calibri"/>
                <a:ea typeface="Calibri"/>
                <a:cs typeface="Calibri"/>
                <a:sym typeface="Calibri"/>
              </a:rPr>
              <a:t> – collection ignores each bin’s actual fill rate</a:t>
            </a:r>
          </a:p>
          <a:p>
            <a:pPr marL="228600" indent="-228600" lvl="0" rtl="0" algn="l">
              <a:lnSpc>
                <a:spcPct val="115000"/>
              </a:lnSpc>
              <a:spcBef>
                <a:spcPts val="0"/>
              </a:spcBef>
              <a:spcAft>
                <a:spcPts val="300"/>
              </a:spcAft>
              <a:buClr>
                <a:srgbClr val="1C7293"/>
              </a:buClr>
              <a:buFont typeface="Arial"/>
              <a:buChar char="•"/>
            </a:pPr>
            <a:r>
              <a:rPr lang="en-US" sz="1400" b="1" i="0" u="none" cap="none" strike="noStrike" dirty="0">
                <a:solidFill>
                  <a:srgbClr val="21295C"/>
                </a:solidFill>
                <a:latin typeface="Calibri"/>
                <a:ea typeface="Calibri"/>
                <a:cs typeface="Calibri"/>
                <a:sym typeface="Calibri"/>
              </a:rPr>
              <a:t>Overflowing bins</a:t>
            </a:r>
            <a:r>
              <a:rPr lang="en-US" sz="1400" b="0" i="0" u="none" cap="none" strike="noStrike" dirty="0">
                <a:solidFill>
                  <a:srgbClr val="1B1F3B"/>
                </a:solidFill>
                <a:latin typeface="Calibri"/>
                <a:ea typeface="Calibri"/>
                <a:cs typeface="Calibri"/>
                <a:sym typeface="Calibri"/>
              </a:rPr>
              <a:t> – hygiene issues and odor in high-traffic areas</a:t>
            </a:r>
          </a:p>
          <a:p>
            <a:pPr marL="228600" indent="-228600" lvl="0" rtl="0" algn="l">
              <a:lnSpc>
                <a:spcPct val="115000"/>
              </a:lnSpc>
              <a:spcBef>
                <a:spcPts val="0"/>
              </a:spcBef>
              <a:spcAft>
                <a:spcPts val="300"/>
              </a:spcAft>
              <a:buClr>
                <a:srgbClr val="1C7293"/>
              </a:buClr>
              <a:buFont typeface="Arial"/>
              <a:buChar char="•"/>
            </a:pPr>
            <a:r>
              <a:rPr lang="en-US" sz="1400" b="1" i="0" u="none" cap="none" strike="noStrike" dirty="0">
                <a:solidFill>
                  <a:srgbClr val="21295C"/>
                </a:solidFill>
                <a:latin typeface="Calibri"/>
                <a:ea typeface="Calibri"/>
                <a:cs typeface="Calibri"/>
                <a:sym typeface="Calibri"/>
              </a:rPr>
              <a:t>Wasted trips</a:t>
            </a:r>
            <a:r>
              <a:rPr lang="en-US" sz="1400" b="0" i="0" u="none" cap="none" strike="noStrike" dirty="0">
                <a:solidFill>
                  <a:srgbClr val="1B1F3B"/>
                </a:solidFill>
                <a:latin typeface="Calibri"/>
                <a:ea typeface="Calibri"/>
                <a:cs typeface="Calibri"/>
                <a:sym typeface="Calibri"/>
              </a:rPr>
              <a:t> – trucks burn fuel and time on empty bins</a:t>
            </a:r>
          </a:p>
          <a:p>
            <a:pPr marL="228600" indent="-228600" lvl="0" rtl="0" algn="l">
              <a:lnSpc>
                <a:spcPct val="115000"/>
              </a:lnSpc>
              <a:spcBef>
                <a:spcPts val="0"/>
              </a:spcBef>
              <a:spcAft>
                <a:spcPts val="300"/>
              </a:spcAft>
              <a:buClr>
                <a:srgbClr val="1C7293"/>
              </a:buClr>
              <a:buFont typeface="Arial"/>
              <a:buChar char="•"/>
            </a:pPr>
            <a:r>
              <a:rPr lang="en-US" sz="1400" b="1" i="0" u="none" cap="none" strike="noStrike" dirty="0">
                <a:solidFill>
                  <a:srgbClr val="21295C"/>
                </a:solidFill>
                <a:latin typeface="Calibri"/>
                <a:ea typeface="Calibri"/>
                <a:cs typeface="Calibri"/>
                <a:sym typeface="Calibri"/>
              </a:rPr>
              <a:t>No real-time data</a:t>
            </a:r>
            <a:r>
              <a:rPr lang="en-US" sz="1400" b="0" i="0" u="none" cap="none" strike="noStrike" dirty="0">
                <a:solidFill>
                  <a:srgbClr val="1B1F3B"/>
                </a:solidFill>
                <a:latin typeface="Calibri"/>
                <a:ea typeface="Calibri"/>
                <a:cs typeface="Calibri"/>
                <a:sym typeface="Calibri"/>
              </a:rPr>
              <a:t> – no data-driven decisions in sanitation</a:t>
            </a:r>
          </a:p>
        </p:txBody>
      </p:sp>
      <p:sp>
        <p:nvSpPr>
          <p:cNvPr id="78" name="Google Shape;78;p5"/>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BCC351  ·  B.TECH MINI PROJECT PRESENTATION</a:t>
            </a:r>
            <a:endParaRPr b="0" i="0" sz="900" u="none" cap="none" strike="noStrike">
              <a:solidFill>
                <a:schemeClr val="dk1"/>
              </a:solidFill>
              <a:latin typeface="Calibri"/>
              <a:ea typeface="Calibri"/>
              <a:cs typeface="Calibri"/>
              <a:sym typeface="Calibri"/>
            </a:endParaRPr>
          </a:p>
        </p:txBody>
      </p:sp>
      <p:sp>
        <p:nvSpPr>
          <p:cNvPr id="79" name="Google Shape;79;p5"/>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84" name="Shape 84"/>
        <p:cNvGrpSpPr/>
        <p:nvPr/>
      </p:nvGrpSpPr>
      <p:grpSpPr>
        <a:xfrm>
          <a:off x="0" y="0"/>
          <a:ext cx="0" cy="0"/>
          <a:chOff x="0" y="0"/>
          <a:chExt cx="0" cy="0"/>
        </a:xfrm>
      </p:grpSpPr>
      <p:sp>
        <p:nvSpPr>
          <p:cNvPr id="85" name="Google Shape;85;p6"/>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6"/>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6"/>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6"/>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03</a:t>
            </a:r>
            <a:endParaRPr b="0" i="0" sz="1600" u="none" cap="none" strike="noStrike">
              <a:solidFill>
                <a:schemeClr val="dk1"/>
              </a:solidFill>
              <a:latin typeface="Calibri"/>
              <a:ea typeface="Calibri"/>
              <a:cs typeface="Calibri"/>
              <a:sym typeface="Calibri"/>
            </a:endParaRPr>
          </a:p>
        </p:txBody>
      </p:sp>
      <p:sp>
        <p:nvSpPr>
          <p:cNvPr id="89" name="Google Shape;89;p6"/>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03</a:t>
            </a:r>
            <a:endParaRPr b="0" i="0" sz="1100" u="none" cap="none" strike="noStrike">
              <a:solidFill>
                <a:schemeClr val="dk1"/>
              </a:solidFill>
              <a:latin typeface="Calibri"/>
              <a:ea typeface="Calibri"/>
              <a:cs typeface="Calibri"/>
              <a:sym typeface="Calibri"/>
            </a:endParaRPr>
          </a:p>
        </p:txBody>
      </p:sp>
      <p:sp>
        <p:nvSpPr>
          <p:cNvPr id="90" name="Google Shape;90;p6"/>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Objectives</a:t>
            </a:r>
            <a:endParaRPr b="0" i="0" sz="3000" u="none" cap="none" strike="noStrike">
              <a:solidFill>
                <a:schemeClr val="dk1"/>
              </a:solidFill>
              <a:latin typeface="Calibri"/>
              <a:ea typeface="Calibri"/>
              <a:cs typeface="Calibri"/>
              <a:sym typeface="Calibri"/>
            </a:endParaRPr>
          </a:p>
        </p:txBody>
      </p:sp>
      <p:sp>
        <p:nvSpPr>
          <p:cNvPr id="91" name="Google Shape;91;p6"/>
          <p:cNvSpPr/>
          <p:nvPr/>
        </p:nvSpPr>
        <p:spPr>
          <a:xfrm>
            <a:off x="1234415" y="1632220"/>
            <a:ext cx="466350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6"/>
          <p:cNvSpPr/>
          <p:nvPr/>
        </p:nvSpPr>
        <p:spPr>
          <a:xfrm>
            <a:off x="1463040" y="2286000"/>
            <a:ext cx="10058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01</a:t>
            </a:r>
            <a:endParaRPr b="0" i="0" sz="4000" u="none" cap="none" strike="noStrike">
              <a:solidFill>
                <a:schemeClr val="dk1"/>
              </a:solidFill>
              <a:latin typeface="Calibri"/>
              <a:ea typeface="Calibri"/>
              <a:cs typeface="Calibri"/>
              <a:sym typeface="Calibri"/>
            </a:endParaRPr>
          </a:p>
        </p:txBody>
      </p:sp>
      <p:sp>
        <p:nvSpPr>
          <p:cNvPr id="93" name="Google Shape;93;p6"/>
          <p:cNvSpPr/>
          <p:nvPr/>
        </p:nvSpPr>
        <p:spPr>
          <a:xfrm>
            <a:off x="2423160" y="2107683"/>
            <a:ext cx="3291900" cy="1371600"/>
          </a:xfrm>
          <a:prstGeom prst="rect">
            <a:avLst/>
          </a:prstGeom>
          <a:noFill/>
          <a:ln>
            <a:noFill/>
          </a:ln>
        </p:spPr>
        <p:txBody>
          <a:bodyPr anchorCtr="0" anchor="ctr" bIns="45700" lIns="91425" spcFirstLastPara="1" rIns="91425" wrap="square" tIns="45700">
            <a:noAutofit/>
          </a:bodyPr>
          <a:lstStyle/>
          <a:p>
            <a:pPr marL="0" indent="0" lvl="0" rtl="0" algn="l">
              <a:lnSpc>
                <a:spcPct val="100000"/>
              </a:lnSpc>
              <a:spcBef>
                <a:spcPts val="0"/>
              </a:spcBef>
              <a:spcAft>
                <a:spcPts val="400"/>
              </a:spcAft>
              <a:buNone/>
            </a:pPr>
            <a:r>
              <a:rPr lang="en-US" sz="1500" b="1" i="0" u="none" cap="none" strike="noStrike" dirty="0">
                <a:solidFill>
                  <a:srgbClr val="21295C"/>
                </a:solidFill>
                <a:latin typeface="Calibri"/>
                <a:ea typeface="Calibri"/>
                <a:cs typeface="Calibri"/>
                <a:sym typeface="Calibri"/>
              </a:rPr>
              <a:t>IoT Sensor Node</a:t>
            </a:r>
          </a:p>
          <a:p>
            <a:pPr marL="0" indent="0" lvl="0" rtl="0" algn="l">
              <a:lnSpc>
                <a:spcPct val="110000"/>
              </a:lnSpc>
              <a:spcBef>
                <a:spcPts val="0"/>
              </a:spcBef>
              <a:spcAft>
                <a:spcPts val="0"/>
              </a:spcAft>
              <a:buNone/>
            </a:pPr>
            <a:r>
              <a:rPr lang="en-US" sz="1200" b="0" i="0" u="none" cap="none" strike="noStrike" dirty="0">
                <a:solidFill>
                  <a:srgbClr val="1B1F3B"/>
                </a:solidFill>
                <a:latin typeface="Calibri"/>
                <a:ea typeface="Calibri"/>
                <a:cs typeface="Calibri"/>
                <a:sym typeface="Calibri"/>
              </a:rPr>
              <a:t>ESP32 microcontroller with an HC-SR04 ultrasonic sensor to measure the garbage level continuously in real time.</a:t>
            </a:r>
          </a:p>
        </p:txBody>
      </p:sp>
      <p:sp>
        <p:nvSpPr>
          <p:cNvPr id="94" name="Google Shape;94;p6"/>
          <p:cNvSpPr/>
          <p:nvPr/>
        </p:nvSpPr>
        <p:spPr>
          <a:xfrm>
            <a:off x="6355055" y="1632220"/>
            <a:ext cx="466350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6"/>
          <p:cNvSpPr/>
          <p:nvPr/>
        </p:nvSpPr>
        <p:spPr>
          <a:xfrm>
            <a:off x="6583680" y="2286000"/>
            <a:ext cx="10058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02</a:t>
            </a:r>
            <a:endParaRPr b="0" i="0" sz="4000" u="none" cap="none" strike="noStrike">
              <a:solidFill>
                <a:schemeClr val="dk1"/>
              </a:solidFill>
              <a:latin typeface="Calibri"/>
              <a:ea typeface="Calibri"/>
              <a:cs typeface="Calibri"/>
              <a:sym typeface="Calibri"/>
            </a:endParaRPr>
          </a:p>
        </p:txBody>
      </p:sp>
      <p:sp>
        <p:nvSpPr>
          <p:cNvPr id="96" name="Google Shape;96;p6"/>
          <p:cNvSpPr/>
          <p:nvPr/>
        </p:nvSpPr>
        <p:spPr>
          <a:xfrm>
            <a:off x="7543775" y="2016245"/>
            <a:ext cx="3291900" cy="1371600"/>
          </a:xfrm>
          <a:prstGeom prst="rect">
            <a:avLst/>
          </a:prstGeom>
          <a:noFill/>
          <a:ln>
            <a:noFill/>
          </a:ln>
        </p:spPr>
        <p:txBody>
          <a:bodyPr anchorCtr="0" anchor="ctr" bIns="45700" lIns="91425" spcFirstLastPara="1" rIns="91425" wrap="square" tIns="45700">
            <a:noAutofit/>
          </a:bodyPr>
          <a:lstStyle/>
          <a:p>
            <a:pPr marL="0" indent="0" lvl="0" rtl="0" algn="l">
              <a:lnSpc>
                <a:spcPct val="100000"/>
              </a:lnSpc>
              <a:spcBef>
                <a:spcPts val="0"/>
              </a:spcBef>
              <a:spcAft>
                <a:spcPts val="400"/>
              </a:spcAft>
              <a:buNone/>
            </a:pPr>
            <a:r>
              <a:rPr lang="en-US" sz="1500" b="1" i="0" u="none" cap="none" strike="noStrike" dirty="0">
                <a:solidFill>
                  <a:srgbClr val="21295C"/>
                </a:solidFill>
                <a:latin typeface="Calibri"/>
                <a:ea typeface="Calibri"/>
                <a:cs typeface="Calibri"/>
                <a:sym typeface="Calibri"/>
              </a:rPr>
              <a:t>Wireless Data Transmission</a:t>
            </a:r>
          </a:p>
          <a:p>
            <a:pPr marL="0" indent="0" lvl="0" rtl="0" algn="l">
              <a:lnSpc>
                <a:spcPct val="110000"/>
              </a:lnSpc>
              <a:spcBef>
                <a:spcPts val="0"/>
              </a:spcBef>
              <a:spcAft>
                <a:spcPts val="0"/>
              </a:spcAft>
              <a:buNone/>
            </a:pPr>
            <a:r>
              <a:rPr lang="en-US" sz="1200" b="0" i="0" u="none" cap="none" strike="noStrike" dirty="0">
                <a:solidFill>
                  <a:srgbClr val="1B1F3B"/>
                </a:solidFill>
                <a:latin typeface="Calibri"/>
                <a:ea typeface="Calibri"/>
                <a:cs typeface="Calibri"/>
                <a:sym typeface="Calibri"/>
              </a:rPr>
              <a:t>Secure Wi-Fi transfer of bin-level data to a centralized cloud platform such as ThingSpeak or Firebase.</a:t>
            </a:r>
          </a:p>
        </p:txBody>
      </p:sp>
      <p:sp>
        <p:nvSpPr>
          <p:cNvPr id="97" name="Google Shape;97;p6"/>
          <p:cNvSpPr/>
          <p:nvPr/>
        </p:nvSpPr>
        <p:spPr>
          <a:xfrm>
            <a:off x="1234440" y="4160520"/>
            <a:ext cx="466344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6"/>
          <p:cNvSpPr/>
          <p:nvPr/>
        </p:nvSpPr>
        <p:spPr>
          <a:xfrm>
            <a:off x="1463040" y="4343400"/>
            <a:ext cx="10058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03</a:t>
            </a:r>
            <a:endParaRPr b="0" i="0" sz="4000" u="none" cap="none" strike="noStrike">
              <a:solidFill>
                <a:schemeClr val="dk1"/>
              </a:solidFill>
              <a:latin typeface="Calibri"/>
              <a:ea typeface="Calibri"/>
              <a:cs typeface="Calibri"/>
              <a:sym typeface="Calibri"/>
            </a:endParaRPr>
          </a:p>
        </p:txBody>
      </p:sp>
      <p:sp>
        <p:nvSpPr>
          <p:cNvPr id="99" name="Google Shape;99;p6"/>
          <p:cNvSpPr/>
          <p:nvPr/>
        </p:nvSpPr>
        <p:spPr>
          <a:xfrm>
            <a:off x="2423160" y="4389120"/>
            <a:ext cx="3291840" cy="1371600"/>
          </a:xfrm>
          <a:prstGeom prst="rect">
            <a:avLst/>
          </a:prstGeom>
          <a:noFill/>
          <a:ln>
            <a:noFill/>
          </a:ln>
        </p:spPr>
        <p:txBody>
          <a:bodyPr anchorCtr="0" anchor="ctr" bIns="45700" lIns="91425" spcFirstLastPara="1" rIns="91425" wrap="square" tIns="45700">
            <a:noAutofit/>
          </a:bodyPr>
          <a:lstStyle/>
          <a:p>
            <a:pPr marL="0" indent="0" lvl="0" rtl="0" algn="l">
              <a:lnSpc>
                <a:spcPct val="100000"/>
              </a:lnSpc>
              <a:spcBef>
                <a:spcPts val="0"/>
              </a:spcBef>
              <a:spcAft>
                <a:spcPts val="400"/>
              </a:spcAft>
              <a:buNone/>
            </a:pPr>
            <a:r>
              <a:rPr lang="en-US" sz="1500" b="1" i="0" u="none" cap="none" strike="noStrike" dirty="0">
                <a:solidFill>
                  <a:srgbClr val="21295C"/>
                </a:solidFill>
                <a:latin typeface="Calibri"/>
                <a:ea typeface="Calibri"/>
                <a:cs typeface="Calibri"/>
                <a:sym typeface="Calibri"/>
              </a:rPr>
              <a:t>Cloud Dashboard</a:t>
            </a:r>
          </a:p>
          <a:p>
            <a:pPr marL="0" indent="0" lvl="0" rtl="0" algn="l">
              <a:lnSpc>
                <a:spcPct val="110000"/>
              </a:lnSpc>
              <a:spcBef>
                <a:spcPts val="0"/>
              </a:spcBef>
              <a:spcAft>
                <a:spcPts val="0"/>
              </a:spcAft>
              <a:buNone/>
            </a:pPr>
            <a:r>
              <a:rPr lang="en-US" sz="1200" b="0" i="0" u="none" cap="none" strike="noStrike" dirty="0">
                <a:solidFill>
                  <a:srgbClr val="1B1F3B"/>
                </a:solidFill>
                <a:latin typeface="Calibri"/>
                <a:ea typeface="Calibri"/>
                <a:cs typeface="Calibri"/>
                <a:sym typeface="Calibri"/>
              </a:rPr>
              <a:t>Interactive web dashboard that lets sanitation authorities monitor the fill status of many bins at once.</a:t>
            </a:r>
          </a:p>
        </p:txBody>
      </p:sp>
      <p:sp>
        <p:nvSpPr>
          <p:cNvPr id="100" name="Google Shape;100;p6"/>
          <p:cNvSpPr/>
          <p:nvPr/>
        </p:nvSpPr>
        <p:spPr>
          <a:xfrm>
            <a:off x="6355080" y="4160520"/>
            <a:ext cx="4663440" cy="1828800"/>
          </a:xfrm>
          <a:prstGeom prst="roundRect">
            <a:avLst>
              <a:gd fmla="val 5000"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6"/>
          <p:cNvSpPr/>
          <p:nvPr/>
        </p:nvSpPr>
        <p:spPr>
          <a:xfrm>
            <a:off x="6583680" y="4343400"/>
            <a:ext cx="1005840"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9D8E8"/>
              </a:buClr>
              <a:buSzPts val="4000"/>
              <a:buFont typeface="Cambria"/>
              <a:buNone/>
            </a:pPr>
            <a:r>
              <a:rPr b="1" i="0" lang="en-US" sz="4000" u="none" cap="none" strike="noStrike">
                <a:solidFill>
                  <a:srgbClr val="C9D8E8"/>
                </a:solidFill>
                <a:latin typeface="Cambria"/>
                <a:ea typeface="Cambria"/>
                <a:cs typeface="Cambria"/>
                <a:sym typeface="Cambria"/>
              </a:rPr>
              <a:t>04</a:t>
            </a:r>
            <a:endParaRPr b="0" i="0" sz="4000" u="none" cap="none" strike="noStrike">
              <a:solidFill>
                <a:schemeClr val="dk1"/>
              </a:solidFill>
              <a:latin typeface="Calibri"/>
              <a:ea typeface="Calibri"/>
              <a:cs typeface="Calibri"/>
              <a:sym typeface="Calibri"/>
            </a:endParaRPr>
          </a:p>
        </p:txBody>
      </p:sp>
      <p:sp>
        <p:nvSpPr>
          <p:cNvPr id="102" name="Google Shape;102;p6"/>
          <p:cNvSpPr/>
          <p:nvPr/>
        </p:nvSpPr>
        <p:spPr>
          <a:xfrm>
            <a:off x="7543800" y="4389120"/>
            <a:ext cx="3291840" cy="1371600"/>
          </a:xfrm>
          <a:prstGeom prst="rect">
            <a:avLst/>
          </a:prstGeom>
          <a:noFill/>
          <a:ln>
            <a:noFill/>
          </a:ln>
        </p:spPr>
        <p:txBody>
          <a:bodyPr anchorCtr="0" anchor="ctr" bIns="45700" lIns="91425" spcFirstLastPara="1" rIns="91425" wrap="square" tIns="45700">
            <a:noAutofit/>
          </a:bodyPr>
          <a:lstStyle/>
          <a:p>
            <a:pPr marL="0" indent="0" lvl="0" rtl="0" algn="l">
              <a:lnSpc>
                <a:spcPct val="100000"/>
              </a:lnSpc>
              <a:spcBef>
                <a:spcPts val="0"/>
              </a:spcBef>
              <a:spcAft>
                <a:spcPts val="400"/>
              </a:spcAft>
              <a:buNone/>
            </a:pPr>
            <a:r>
              <a:rPr lang="en-US" sz="1500" b="1" i="0" u="none" cap="none" strike="noStrike" dirty="0">
                <a:solidFill>
                  <a:srgbClr val="21295C"/>
                </a:solidFill>
                <a:latin typeface="Calibri"/>
                <a:ea typeface="Calibri"/>
                <a:cs typeface="Calibri"/>
                <a:sym typeface="Calibri"/>
              </a:rPr>
              <a:t>Automated Alerts</a:t>
            </a:r>
          </a:p>
          <a:p>
            <a:pPr marL="0" indent="0" lvl="0" rtl="0" algn="l">
              <a:lnSpc>
                <a:spcPct val="110000"/>
              </a:lnSpc>
              <a:spcBef>
                <a:spcPts val="0"/>
              </a:spcBef>
              <a:spcAft>
                <a:spcPts val="0"/>
              </a:spcAft>
              <a:buNone/>
            </a:pPr>
            <a:r>
              <a:rPr lang="en-US" sz="1200" b="0" i="0" u="none" cap="none" strike="noStrike" dirty="0">
                <a:solidFill>
                  <a:srgbClr val="1B1F3B"/>
                </a:solidFill>
                <a:latin typeface="Calibri"/>
                <a:ea typeface="Calibri"/>
                <a:cs typeface="Calibri"/>
                <a:sym typeface="Calibri"/>
              </a:rPr>
              <a:t>SMS and email alerts when a bin passes 90% capacity, enabling dynamic route optimization.</a:t>
            </a:r>
          </a:p>
        </p:txBody>
      </p:sp>
      <p:sp>
        <p:nvSpPr>
          <p:cNvPr id="103" name="Google Shape;103;p6"/>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BCC351  ·  B.TECH MINI PROJECT PRESENTATION</a:t>
            </a:r>
            <a:endParaRPr b="0" i="0" sz="900" u="none" cap="none" strike="noStrike">
              <a:solidFill>
                <a:schemeClr val="dk1"/>
              </a:solidFill>
              <a:latin typeface="Calibri"/>
              <a:ea typeface="Calibri"/>
              <a:cs typeface="Calibri"/>
              <a:sym typeface="Calibri"/>
            </a:endParaRPr>
          </a:p>
        </p:txBody>
      </p:sp>
      <p:sp>
        <p:nvSpPr>
          <p:cNvPr id="104" name="Google Shape;104;p6"/>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09" name="Shape 109"/>
        <p:cNvGrpSpPr/>
        <p:nvPr/>
      </p:nvGrpSpPr>
      <p:grpSpPr>
        <a:xfrm>
          <a:off x="0" y="0"/>
          <a:ext cx="0" cy="0"/>
          <a:chOff x="0" y="0"/>
          <a:chExt cx="0" cy="0"/>
        </a:xfrm>
      </p:grpSpPr>
      <p:sp>
        <p:nvSpPr>
          <p:cNvPr id="110" name="Google Shape;110;p7"/>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7"/>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7"/>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04</a:t>
            </a:r>
            <a:endParaRPr b="0" i="0" sz="1600" u="none" cap="none" strike="noStrike">
              <a:solidFill>
                <a:schemeClr val="dk1"/>
              </a:solidFill>
              <a:latin typeface="Calibri"/>
              <a:ea typeface="Calibri"/>
              <a:cs typeface="Calibri"/>
              <a:sym typeface="Calibri"/>
            </a:endParaRPr>
          </a:p>
        </p:txBody>
      </p:sp>
      <p:sp>
        <p:nvSpPr>
          <p:cNvPr id="113" name="Google Shape;113;p7"/>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04</a:t>
            </a:r>
            <a:endParaRPr b="0" i="0" sz="1100" u="none" cap="none" strike="noStrike">
              <a:solidFill>
                <a:schemeClr val="dk1"/>
              </a:solidFill>
              <a:latin typeface="Calibri"/>
              <a:ea typeface="Calibri"/>
              <a:cs typeface="Calibri"/>
              <a:sym typeface="Calibri"/>
            </a:endParaRPr>
          </a:p>
        </p:txBody>
      </p:sp>
      <p:sp>
        <p:nvSpPr>
          <p:cNvPr id="114" name="Google Shape;114;p7"/>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Technology Stack</a:t>
            </a:r>
            <a:endParaRPr b="0" i="0" sz="3000" u="none" cap="none" strike="noStrike">
              <a:solidFill>
                <a:schemeClr val="dk1"/>
              </a:solidFill>
              <a:latin typeface="Calibri"/>
              <a:ea typeface="Calibri"/>
              <a:cs typeface="Calibri"/>
              <a:sym typeface="Calibri"/>
            </a:endParaRPr>
          </a:p>
        </p:txBody>
      </p:sp>
      <p:sp>
        <p:nvSpPr>
          <p:cNvPr id="115" name="Google Shape;115;p7"/>
          <p:cNvSpPr/>
          <p:nvPr/>
        </p:nvSpPr>
        <p:spPr>
          <a:xfrm>
            <a:off x="1234475" y="1543875"/>
            <a:ext cx="9849000" cy="4445400"/>
          </a:xfrm>
          <a:prstGeom prst="roundRect">
            <a:avLst>
              <a:gd fmla="val 2817"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7"/>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BCC351  ·  B.TECH MINI PROJECT PRESENTATION</a:t>
            </a:r>
            <a:endParaRPr b="0" i="0" sz="900" u="none" cap="none" strike="noStrike">
              <a:solidFill>
                <a:schemeClr val="dk1"/>
              </a:solidFill>
              <a:latin typeface="Calibri"/>
              <a:ea typeface="Calibri"/>
              <a:cs typeface="Calibri"/>
              <a:sym typeface="Calibri"/>
            </a:endParaRPr>
          </a:p>
        </p:txBody>
      </p:sp>
      <p:sp>
        <p:nvSpPr>
          <p:cNvPr id="117" name="Google Shape;117;p7"/>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300" name="Stack card 1"/>
          <p:cNvSpPr/>
          <p:nvPr/>
        </p:nvSpPr>
        <p:spPr>
          <a:xfrm>
            <a:off x="1484475" y="1793875"/>
            <a:ext cx="2983000" cy="1872700"/>
          </a:xfrm>
          <a:prstGeom prst="roundRect">
            <a:avLst>
              <a:gd name="adj" fmla="val 5000"/>
            </a:avLst>
          </a:prstGeom>
          <a:solidFill>
            <a:srgbClr val="F6F8FB"/>
          </a:solidFill>
          <a:ln w="12700">
            <a:solidFill>
              <a:srgbClr val="DEE4EF"/>
            </a:solidFill>
          </a:ln>
        </p:spPr>
        <p:txBody>
          <a:bodyPr wrap="square" lIns="182880" tIns="91440" rIns="182880" bIns="91440" anchor="ctr" rtlCol="0">
            <a:noAutofit/>
          </a:bodyPr>
          <a:lstStyle/>
          <a:p>
            <a:pPr marL="0" indent="0" lvl="0" rtl="0" algn="l">
              <a:lnSpc>
                <a:spcPct val="100000"/>
              </a:lnSpc>
              <a:spcBef>
                <a:spcPts val="0"/>
              </a:spcBef>
              <a:spcAft>
                <a:spcPts val="600"/>
              </a:spcAft>
              <a:buNone/>
            </a:pPr>
            <a:r>
              <a:rPr lang="en-US" sz="1200" b="1" i="0" u="none" cap="none" strike="noStrike" dirty="0">
                <a:solidFill>
                  <a:srgbClr val="1C7293"/>
                </a:solidFill>
                <a:latin typeface="Calibri"/>
                <a:ea typeface="Calibri"/>
                <a:cs typeface="Calibri"/>
                <a:sym typeface="Calibri"/>
              </a:rPr>
              <a:t>MICROCONTROLLER</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ESP32 development board</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Built-in Wi-Fi and Bluetooth</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Dual-core processor</a:t>
            </a:r>
          </a:p>
        </p:txBody>
      </p:sp>
      <p:sp>
        <p:nvSpPr>
          <p:cNvPr id="301" name="Stack card 2"/>
          <p:cNvSpPr/>
          <p:nvPr/>
        </p:nvSpPr>
        <p:spPr>
          <a:xfrm>
            <a:off x="4667475" y="1793875"/>
            <a:ext cx="2983000" cy="1872700"/>
          </a:xfrm>
          <a:prstGeom prst="roundRect">
            <a:avLst>
              <a:gd name="adj" fmla="val 5000"/>
            </a:avLst>
          </a:prstGeom>
          <a:solidFill>
            <a:srgbClr val="F6F8FB"/>
          </a:solidFill>
          <a:ln w="12700">
            <a:solidFill>
              <a:srgbClr val="DEE4EF"/>
            </a:solidFill>
          </a:ln>
        </p:spPr>
        <p:txBody>
          <a:bodyPr wrap="square" lIns="182880" tIns="91440" rIns="182880" bIns="91440" anchor="ctr" rtlCol="0">
            <a:noAutofit/>
          </a:bodyPr>
          <a:lstStyle/>
          <a:p>
            <a:pPr marL="0" indent="0" lvl="0" rtl="0" algn="l">
              <a:lnSpc>
                <a:spcPct val="100000"/>
              </a:lnSpc>
              <a:spcBef>
                <a:spcPts val="0"/>
              </a:spcBef>
              <a:spcAft>
                <a:spcPts val="600"/>
              </a:spcAft>
              <a:buNone/>
            </a:pPr>
            <a:r>
              <a:rPr lang="en-US" sz="1200" b="1" i="0" u="none" cap="none" strike="noStrike" dirty="0">
                <a:solidFill>
                  <a:srgbClr val="1C7293"/>
                </a:solidFill>
                <a:latin typeface="Calibri"/>
                <a:ea typeface="Calibri"/>
                <a:cs typeface="Calibri"/>
                <a:sym typeface="Calibri"/>
              </a:rPr>
              <a:t>SENSOR</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HC-SR04 ultrasonic sensor</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Distance-based fill level</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Mini trash bin prototype</a:t>
            </a:r>
          </a:p>
        </p:txBody>
      </p:sp>
      <p:sp>
        <p:nvSpPr>
          <p:cNvPr id="302" name="Stack card 3"/>
          <p:cNvSpPr/>
          <p:nvPr/>
        </p:nvSpPr>
        <p:spPr>
          <a:xfrm>
            <a:off x="7850475" y="1793875"/>
            <a:ext cx="2983000" cy="1872700"/>
          </a:xfrm>
          <a:prstGeom prst="roundRect">
            <a:avLst>
              <a:gd name="adj" fmla="val 5000"/>
            </a:avLst>
          </a:prstGeom>
          <a:solidFill>
            <a:srgbClr val="F6F8FB"/>
          </a:solidFill>
          <a:ln w="12700">
            <a:solidFill>
              <a:srgbClr val="DEE4EF"/>
            </a:solidFill>
          </a:ln>
        </p:spPr>
        <p:txBody>
          <a:bodyPr wrap="square" lIns="182880" tIns="91440" rIns="182880" bIns="91440" anchor="ctr" rtlCol="0">
            <a:noAutofit/>
          </a:bodyPr>
          <a:lstStyle/>
          <a:p>
            <a:pPr marL="0" indent="0" lvl="0" rtl="0" algn="l">
              <a:lnSpc>
                <a:spcPct val="100000"/>
              </a:lnSpc>
              <a:spcBef>
                <a:spcPts val="0"/>
              </a:spcBef>
              <a:spcAft>
                <a:spcPts val="600"/>
              </a:spcAft>
              <a:buNone/>
            </a:pPr>
            <a:r>
              <a:rPr lang="en-US" sz="1200" b="1" i="0" u="none" cap="none" strike="noStrike" dirty="0">
                <a:solidFill>
                  <a:srgbClr val="1C7293"/>
                </a:solidFill>
                <a:latin typeface="Calibri"/>
                <a:ea typeface="Calibri"/>
                <a:cs typeface="Calibri"/>
                <a:sym typeface="Calibri"/>
              </a:rPr>
              <a:t>POWER &amp; ACCESSORIES</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5V USB power bank or battery</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Breadboard</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Jumper wires</a:t>
            </a:r>
          </a:p>
        </p:txBody>
      </p:sp>
      <p:sp>
        <p:nvSpPr>
          <p:cNvPr id="303" name="Stack card 4"/>
          <p:cNvSpPr/>
          <p:nvPr/>
        </p:nvSpPr>
        <p:spPr>
          <a:xfrm>
            <a:off x="1484475" y="3866575"/>
            <a:ext cx="2983000" cy="1872700"/>
          </a:xfrm>
          <a:prstGeom prst="roundRect">
            <a:avLst>
              <a:gd name="adj" fmla="val 5000"/>
            </a:avLst>
          </a:prstGeom>
          <a:solidFill>
            <a:srgbClr val="F6F8FB"/>
          </a:solidFill>
          <a:ln w="12700">
            <a:solidFill>
              <a:srgbClr val="DEE4EF"/>
            </a:solidFill>
          </a:ln>
        </p:spPr>
        <p:txBody>
          <a:bodyPr wrap="square" lIns="182880" tIns="91440" rIns="182880" bIns="91440" anchor="ctr" rtlCol="0">
            <a:noAutofit/>
          </a:bodyPr>
          <a:lstStyle/>
          <a:p>
            <a:pPr marL="0" indent="0" lvl="0" rtl="0" algn="l">
              <a:lnSpc>
                <a:spcPct val="100000"/>
              </a:lnSpc>
              <a:spcBef>
                <a:spcPts val="0"/>
              </a:spcBef>
              <a:spcAft>
                <a:spcPts val="600"/>
              </a:spcAft>
              <a:buNone/>
            </a:pPr>
            <a:r>
              <a:rPr lang="en-US" sz="1200" b="1" i="0" u="none" cap="none" strike="noStrike" dirty="0">
                <a:solidFill>
                  <a:srgbClr val="1C7293"/>
                </a:solidFill>
                <a:latin typeface="Calibri"/>
                <a:ea typeface="Calibri"/>
                <a:cs typeface="Calibri"/>
                <a:sym typeface="Calibri"/>
              </a:rPr>
              <a:t>FIRMWARE</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C/C++ (Arduino dialect)</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Arduino IDE</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Windows 10/11 or Linux</a:t>
            </a:r>
          </a:p>
        </p:txBody>
      </p:sp>
      <p:sp>
        <p:nvSpPr>
          <p:cNvPr id="304" name="Stack card 5"/>
          <p:cNvSpPr/>
          <p:nvPr/>
        </p:nvSpPr>
        <p:spPr>
          <a:xfrm>
            <a:off x="4667475" y="3866575"/>
            <a:ext cx="2983000" cy="1872700"/>
          </a:xfrm>
          <a:prstGeom prst="roundRect">
            <a:avLst>
              <a:gd name="adj" fmla="val 5000"/>
            </a:avLst>
          </a:prstGeom>
          <a:solidFill>
            <a:srgbClr val="F6F8FB"/>
          </a:solidFill>
          <a:ln w="12700">
            <a:solidFill>
              <a:srgbClr val="DEE4EF"/>
            </a:solidFill>
          </a:ln>
        </p:spPr>
        <p:txBody>
          <a:bodyPr wrap="square" lIns="182880" tIns="91440" rIns="182880" bIns="91440" anchor="ctr" rtlCol="0">
            <a:noAutofit/>
          </a:bodyPr>
          <a:lstStyle/>
          <a:p>
            <a:pPr marL="0" indent="0" lvl="0" rtl="0" algn="l">
              <a:lnSpc>
                <a:spcPct val="100000"/>
              </a:lnSpc>
              <a:spcBef>
                <a:spcPts val="0"/>
              </a:spcBef>
              <a:spcAft>
                <a:spcPts val="600"/>
              </a:spcAft>
              <a:buNone/>
            </a:pPr>
            <a:r>
              <a:rPr lang="en-US" sz="1200" b="1" i="0" u="none" cap="none" strike="noStrike" dirty="0">
                <a:solidFill>
                  <a:srgbClr val="1C7293"/>
                </a:solidFill>
                <a:latin typeface="Calibri"/>
                <a:ea typeface="Calibri"/>
                <a:cs typeface="Calibri"/>
                <a:sym typeface="Calibri"/>
              </a:rPr>
              <a:t>CLOUD</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ThingSpeak telemetry and graphs</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or Firebase Realtime Database</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Gauge / percentage bar view</a:t>
            </a:r>
          </a:p>
        </p:txBody>
      </p:sp>
      <p:sp>
        <p:nvSpPr>
          <p:cNvPr id="305" name="Stack card 6"/>
          <p:cNvSpPr/>
          <p:nvPr/>
        </p:nvSpPr>
        <p:spPr>
          <a:xfrm>
            <a:off x="7850475" y="3866575"/>
            <a:ext cx="2983000" cy="1872700"/>
          </a:xfrm>
          <a:prstGeom prst="roundRect">
            <a:avLst>
              <a:gd name="adj" fmla="val 5000"/>
            </a:avLst>
          </a:prstGeom>
          <a:solidFill>
            <a:srgbClr val="F6F8FB"/>
          </a:solidFill>
          <a:ln w="12700">
            <a:solidFill>
              <a:srgbClr val="DEE4EF"/>
            </a:solidFill>
          </a:ln>
        </p:spPr>
        <p:txBody>
          <a:bodyPr wrap="square" lIns="182880" tIns="91440" rIns="182880" bIns="91440" anchor="ctr" rtlCol="0">
            <a:noAutofit/>
          </a:bodyPr>
          <a:lstStyle/>
          <a:p>
            <a:pPr marL="0" indent="0" lvl="0" rtl="0" algn="l">
              <a:lnSpc>
                <a:spcPct val="100000"/>
              </a:lnSpc>
              <a:spcBef>
                <a:spcPts val="0"/>
              </a:spcBef>
              <a:spcAft>
                <a:spcPts val="600"/>
              </a:spcAft>
              <a:buNone/>
            </a:pPr>
            <a:r>
              <a:rPr lang="en-US" sz="1200" b="1" i="0" u="none" cap="none" strike="noStrike" dirty="0">
                <a:solidFill>
                  <a:srgbClr val="1C7293"/>
                </a:solidFill>
                <a:latin typeface="Calibri"/>
                <a:ea typeface="Calibri"/>
                <a:cs typeface="Calibri"/>
                <a:sym typeface="Calibri"/>
              </a:rPr>
              <a:t>ALERTS</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IFTTT (If This Then That) API</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Email notifications</a:t>
            </a:r>
          </a:p>
          <a:p>
            <a:pPr marL="0" indent="0" lvl="0" rtl="0" algn="l">
              <a:lnSpc>
                <a:spcPct val="105000"/>
              </a:lnSpc>
              <a:spcBef>
                <a:spcPts val="0"/>
              </a:spcBef>
              <a:spcAft>
                <a:spcPts val="400"/>
              </a:spcAft>
              <a:buNone/>
            </a:pPr>
            <a:r>
              <a:rPr lang="en-US" sz="1300" b="0" i="0" u="none" cap="none" strike="noStrike" dirty="0">
                <a:solidFill>
                  <a:srgbClr val="1B1F3B"/>
                </a:solidFill>
                <a:latin typeface="Calibri"/>
                <a:ea typeface="Calibri"/>
                <a:cs typeface="Calibri"/>
                <a:sym typeface="Calibri"/>
              </a:rPr>
              <a:t>SMS notifications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22" name="Shape 122"/>
        <p:cNvGrpSpPr/>
        <p:nvPr/>
      </p:nvGrpSpPr>
      <p:grpSpPr>
        <a:xfrm>
          <a:off x="0" y="0"/>
          <a:ext cx="0" cy="0"/>
          <a:chOff x="0" y="0"/>
          <a:chExt cx="0" cy="0"/>
        </a:xfrm>
      </p:grpSpPr>
      <p:sp>
        <p:nvSpPr>
          <p:cNvPr id="123" name="Google Shape;123;p8"/>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8"/>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8"/>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8"/>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05</a:t>
            </a:r>
            <a:endParaRPr b="0" i="0" sz="1600" u="none" cap="none" strike="noStrike">
              <a:solidFill>
                <a:schemeClr val="dk1"/>
              </a:solidFill>
              <a:latin typeface="Calibri"/>
              <a:ea typeface="Calibri"/>
              <a:cs typeface="Calibri"/>
              <a:sym typeface="Calibri"/>
            </a:endParaRPr>
          </a:p>
        </p:txBody>
      </p:sp>
      <p:sp>
        <p:nvSpPr>
          <p:cNvPr id="127" name="Google Shape;127;p8"/>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05</a:t>
            </a:r>
            <a:endParaRPr b="0" i="0" sz="1100" u="none" cap="none" strike="noStrike">
              <a:solidFill>
                <a:schemeClr val="dk1"/>
              </a:solidFill>
              <a:latin typeface="Calibri"/>
              <a:ea typeface="Calibri"/>
              <a:cs typeface="Calibri"/>
              <a:sym typeface="Calibri"/>
            </a:endParaRPr>
          </a:p>
        </p:txBody>
      </p:sp>
      <p:sp>
        <p:nvSpPr>
          <p:cNvPr id="128" name="Google Shape;128;p8"/>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Literature Survey</a:t>
            </a:r>
            <a:endParaRPr b="0" i="0" sz="3000" u="none" cap="none" strike="noStrike">
              <a:solidFill>
                <a:schemeClr val="dk1"/>
              </a:solidFill>
              <a:latin typeface="Calibri"/>
              <a:ea typeface="Calibri"/>
              <a:cs typeface="Calibri"/>
              <a:sym typeface="Calibri"/>
            </a:endParaRPr>
          </a:p>
        </p:txBody>
      </p:sp>
      <p:graphicFrame>
        <p:nvGraphicFramePr>
          <p:cNvPr id="129" name="Google Shape;129;p8"/>
          <p:cNvGraphicFramePr/>
          <p:nvPr/>
        </p:nvGraphicFramePr>
        <p:xfrm>
          <a:off x="1234440" y="1600210"/>
          <a:ext cx="3000000" cy="3000000"/>
        </p:xfrm>
        <a:graphic>
          <a:graphicData uri="http://schemas.openxmlformats.org/drawingml/2006/table">
            <a:tbl>
              <a:tblPr>
                <a:noFill/>
                <a:tableStyleId>{DACFCA41-7221-4674-B144-DCA2F1B7582E}</a:tableStyleId>
              </a:tblPr>
              <a:tblGrid>
                <a:gridCol w="731525"/>
                <a:gridCol w="2743200"/>
                <a:gridCol w="2011675"/>
                <a:gridCol w="1737350"/>
                <a:gridCol w="2468875"/>
              </a:tblGrid>
              <a:tr h="804675">
                <a:tc>
                  <a:txBody>
                    <a:bodyPr/>
                    <a:lstStyle/>
                    <a:p>
                      <a:pPr indent="0" lvl="0" marL="0" marR="0" rtl="0" algn="ctr">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S.No</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Paper Title</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Author(s)</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Journal / Year</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c>
                  <a:txBody>
                    <a:bodyPr/>
                    <a:lstStyle/>
                    <a:p>
                      <a:pPr indent="0" lvl="0" marL="0" marR="0" rtl="0" algn="ctr">
                        <a:lnSpc>
                          <a:spcPct val="100000"/>
                        </a:lnSpc>
                        <a:spcBef>
                          <a:spcPts val="0"/>
                        </a:spcBef>
                        <a:spcAft>
                          <a:spcPts val="0"/>
                        </a:spcAft>
                        <a:buClr>
                          <a:srgbClr val="FFFFFF"/>
                        </a:buClr>
                        <a:buSzPts val="1150"/>
                        <a:buFont typeface="Calibri"/>
                        <a:buNone/>
                      </a:pPr>
                      <a:r>
                        <a:rPr b="1" lang="en-US" sz="1150" u="none" cap="none" strike="noStrike">
                          <a:solidFill>
                            <a:srgbClr val="FFFFFF"/>
                          </a:solidFill>
                          <a:latin typeface="Calibri"/>
                          <a:ea typeface="Calibri"/>
                          <a:cs typeface="Calibri"/>
                          <a:sym typeface="Calibri"/>
                        </a:rPr>
                        <a:t>Key Findings</a:t>
                      </a:r>
                      <a:endParaRPr sz="115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21295C"/>
                    </a:solidFill>
                  </a:tcPr>
                </a:tc>
              </a:tr>
              <a:tr h="804675">
                <a:tc>
                  <a:txBody>
                    <a:bodyPr/>
                    <a:lstStyle/>
                    <a:p>
                      <a:pPr indent="0" lvl="0" marL="0" marR="0" rtl="0" algn="ctr">
                        <a:lnSpc>
                          <a:spcPct val="100000"/>
                        </a:lnSpc>
                        <a:spcBef>
                          <a:spcPts val="0"/>
                        </a:spcBef>
                        <a:spcAft>
                          <a:spcPts val="0"/>
                        </a:spcAft>
                        <a:buClr>
                          <a:srgbClr val="1B1F3B"/>
                        </a:buClr>
                        <a:buSzPts val="1100"/>
                        <a:buFont typeface="Calibri"/>
                        <a:buNone/>
                      </a:pPr>
                      <a:r>
                        <a:rPr i="1" lang="en-US" sz="1100" u="none" cap="none" strike="noStrike">
                          <a:solidFill>
                            <a:srgbClr val="1B1F3B"/>
                          </a:solidFill>
                          <a:latin typeface="Calibri"/>
                          <a:ea typeface="Calibri"/>
                          <a:cs typeface="Calibri"/>
                          <a:sym typeface="Calibri"/>
                        </a:rPr>
                        <a:t>[1]</a:t>
                      </a:r>
                      <a:endParaRPr sz="11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Waste Bin Monitoring System using Integrated Technologies</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K. Mahajan, J. S. Chitode</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IJIRSET, 2018</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Arduino UNO with GSM sends SMS when a bin is full; recurring SMS cost and no central dashboard or history.</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r>
              <a:tr h="804675">
                <a:tc>
                  <a:txBody>
                    <a:bodyPr/>
                    <a:lstStyle/>
                    <a:p>
                      <a:pPr indent="0" lvl="0" marL="0" marR="0" rtl="0" algn="ctr">
                        <a:lnSpc>
                          <a:spcPct val="100000"/>
                        </a:lnSpc>
                        <a:spcBef>
                          <a:spcPts val="0"/>
                        </a:spcBef>
                        <a:spcAft>
                          <a:spcPts val="0"/>
                        </a:spcAft>
                        <a:buClr>
                          <a:srgbClr val="1B1F3B"/>
                        </a:buClr>
                        <a:buSzPts val="1100"/>
                        <a:buFont typeface="Calibri"/>
                        <a:buNone/>
                      </a:pPr>
                      <a:r>
                        <a:rPr i="1" lang="en-US" sz="1100" u="none" cap="none" strike="noStrike">
                          <a:solidFill>
                            <a:srgbClr val="1B1F3B"/>
                          </a:solidFill>
                          <a:latin typeface="Calibri"/>
                          <a:ea typeface="Calibri"/>
                          <a:cs typeface="Calibri"/>
                          <a:sym typeface="Calibri"/>
                        </a:rPr>
                        <a:t>[2]</a:t>
                      </a:r>
                      <a:endParaRPr sz="11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Image-Processing Based Waste Level Detection</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Engineering institute researchers</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Raspberry Pi based systems</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Highly accurate, but expensive, power-hungry and raises privacy concerns in public spaces.</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r>
              <a:tr h="804675">
                <a:tc>
                  <a:txBody>
                    <a:bodyPr/>
                    <a:lstStyle/>
                    <a:p>
                      <a:pPr indent="0" lvl="0" marL="0" marR="0" rtl="0" algn="ctr">
                        <a:lnSpc>
                          <a:spcPct val="100000"/>
                        </a:lnSpc>
                        <a:spcBef>
                          <a:spcPts val="0"/>
                        </a:spcBef>
                        <a:spcAft>
                          <a:spcPts val="0"/>
                        </a:spcAft>
                        <a:buClr>
                          <a:srgbClr val="1B1F3B"/>
                        </a:buClr>
                        <a:buSzPts val="1100"/>
                        <a:buFont typeface="Calibri"/>
                        <a:buNone/>
                      </a:pPr>
                      <a:r>
                        <a:rPr i="1" lang="en-US" sz="1100" u="none" cap="none" strike="noStrike">
                          <a:solidFill>
                            <a:srgbClr val="1B1F3B"/>
                          </a:solidFill>
                          <a:latin typeface="Calibri"/>
                          <a:ea typeface="Calibri"/>
                          <a:cs typeface="Calibri"/>
                          <a:sym typeface="Calibri"/>
                        </a:rPr>
                        <a:t>[3]</a:t>
                      </a:r>
                      <a:endParaRPr sz="11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Smart Bins with Solar Compactors and Sensors</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Bigbelly</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Commercial deployment</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Proprietary units are very expensive and hard to retrofit to existing municipal infrastructure.</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FFFFFF"/>
                    </a:solidFill>
                  </a:tcPr>
                </a:tc>
              </a:tr>
              <a:tr h="804675">
                <a:tc>
                  <a:txBody>
                    <a:bodyPr/>
                    <a:lstStyle/>
                    <a:p>
                      <a:pPr indent="0" lvl="0" marL="0" marR="0" rtl="0" algn="ctr">
                        <a:lnSpc>
                          <a:spcPct val="100000"/>
                        </a:lnSpc>
                        <a:spcBef>
                          <a:spcPts val="0"/>
                        </a:spcBef>
                        <a:spcAft>
                          <a:spcPts val="0"/>
                        </a:spcAft>
                        <a:buClr>
                          <a:srgbClr val="1B1F3B"/>
                        </a:buClr>
                        <a:buSzPts val="1100"/>
                        <a:buFont typeface="Calibri"/>
                        <a:buNone/>
                      </a:pPr>
                      <a:r>
                        <a:rPr i="1" lang="en-US" sz="1100" u="none" cap="none" strike="noStrike">
                          <a:solidFill>
                            <a:srgbClr val="1B1F3B"/>
                          </a:solidFill>
                          <a:latin typeface="Calibri"/>
                          <a:ea typeface="Calibri"/>
                          <a:cs typeface="Calibri"/>
                          <a:sym typeface="Calibri"/>
                        </a:rPr>
                        <a:t>[4]</a:t>
                      </a:r>
                      <a:endParaRPr sz="1100" u="none" cap="none" strike="noStrike">
                        <a:latin typeface="Calibri"/>
                        <a:ea typeface="Calibri"/>
                        <a:cs typeface="Calibri"/>
                        <a:sym typeface="Calibri"/>
                      </a:endParaRP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ESP8266 Wi-Fi Bin Monitors with Local Servers</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Developer projects</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Wi-Fi + local server</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c>
                  <a:txBody>
                    <a:bodyPr/>
                    <a:lstStyle/>
                    <a:p>
                      <a:pPr marL="0" indent="0" lvl="0" rtl="0" algn="l">
                        <a:lnSpc>
                          <a:spcPct val="100000"/>
                        </a:lnSpc>
                        <a:spcBef>
                          <a:spcPts val="0"/>
                        </a:spcBef>
                        <a:spcAft>
                          <a:spcPts val="0"/>
                        </a:spcAft>
                        <a:buNone/>
                      </a:pPr>
                      <a:r>
                        <a:rPr lang="en-US" sz="1100" b="0" i="0" u="none" cap="none" strike="noStrike" dirty="0">
                          <a:solidFill>
                            <a:srgbClr val="1B1F3B"/>
                          </a:solidFill>
                          <a:latin typeface="Calibri"/>
                          <a:ea typeface="Calibri"/>
                          <a:cs typeface="Calibri"/>
                          <a:sym typeface="Calibri"/>
                        </a:rPr>
                        <a:t>Basic Wi-Fi setups that often lack scalability.</a:t>
                      </a:r>
                    </a:p>
                  </a:txBody>
                  <a:tcPr marT="45725" marB="45725" marR="91450" marL="91450" anchor="ctr">
                    <a:lnL cap="flat" cmpd="sng" w="9525">
                      <a:solidFill>
                        <a:srgbClr val="DEE4EF"/>
                      </a:solidFill>
                      <a:prstDash val="solid"/>
                      <a:round/>
                      <a:headEnd len="sm" w="sm" type="none"/>
                      <a:tailEnd len="sm" w="sm" type="none"/>
                    </a:lnL>
                    <a:lnR cap="flat" cmpd="sng" w="9525">
                      <a:solidFill>
                        <a:srgbClr val="DEE4EF"/>
                      </a:solidFill>
                      <a:prstDash val="solid"/>
                      <a:round/>
                      <a:headEnd len="sm" w="sm" type="none"/>
                      <a:tailEnd len="sm" w="sm" type="none"/>
                    </a:lnR>
                    <a:lnT cap="flat" cmpd="sng" w="9525">
                      <a:solidFill>
                        <a:srgbClr val="DEE4EF"/>
                      </a:solidFill>
                      <a:prstDash val="solid"/>
                      <a:round/>
                      <a:headEnd len="sm" w="sm" type="none"/>
                      <a:tailEnd len="sm" w="sm" type="none"/>
                    </a:lnT>
                    <a:lnB cap="flat" cmpd="sng" w="9525">
                      <a:solidFill>
                        <a:srgbClr val="DEE4EF"/>
                      </a:solidFill>
                      <a:prstDash val="solid"/>
                      <a:round/>
                      <a:headEnd len="sm" w="sm" type="none"/>
                      <a:tailEnd len="sm" w="sm" type="none"/>
                    </a:lnB>
                    <a:solidFill>
                      <a:srgbClr val="EAF1F6"/>
                    </a:solidFill>
                  </a:tcPr>
                </a:tc>
              </a:tr>
            </a:tbl>
          </a:graphicData>
        </a:graphic>
      </p:graphicFrame>
      <p:sp>
        <p:nvSpPr>
          <p:cNvPr id="130" name="Google Shape;130;p8"/>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BCC351  ·  B.TECH MINI PROJECT PRESENTATION</a:t>
            </a:r>
            <a:endParaRPr b="0" i="0" sz="900" u="none" cap="none" strike="noStrike">
              <a:solidFill>
                <a:schemeClr val="dk1"/>
              </a:solidFill>
              <a:latin typeface="Calibri"/>
              <a:ea typeface="Calibri"/>
              <a:cs typeface="Calibri"/>
              <a:sym typeface="Calibri"/>
            </a:endParaRPr>
          </a:p>
        </p:txBody>
      </p:sp>
      <p:sp>
        <p:nvSpPr>
          <p:cNvPr id="131" name="Google Shape;131;p8"/>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
        <p:nvSpPr>
          <p:cNvPr id="300" name="Gap note"/>
          <p:cNvSpPr/>
          <p:nvPr/>
        </p:nvSpPr>
        <p:spPr>
          <a:xfrm>
            <a:off x="1234440" y="5760000"/>
            <a:ext cx="9692640" cy="560000"/>
          </a:xfrm>
          <a:prstGeom prst="rect">
            <a:avLst/>
          </a:prstGeom>
          <a:noFill/>
          <a:ln>
            <a:noFill/>
          </a:ln>
        </p:spPr>
        <p:txBody>
          <a:bodyPr wrap="square" lIns="0" tIns="45700" rIns="0" bIns="45700" anchor="ctr" rtlCol="0">
            <a:noAutofit/>
          </a:bodyPr>
          <a:lstStyle/>
          <a:p>
            <a:pPr marL="0" indent="0" lvl="0" rtl="0" algn="l">
              <a:lnSpc>
                <a:spcPct val="110000"/>
              </a:lnSpc>
              <a:spcBef>
                <a:spcPts val="0"/>
              </a:spcBef>
              <a:spcAft>
                <a:spcPts val="0"/>
              </a:spcAft>
              <a:buNone/>
            </a:pPr>
            <a:r>
              <a:rPr lang="en-US" sz="1300" b="1" i="0" u="none" cap="none" strike="noStrike" dirty="0">
                <a:solidFill>
                  <a:srgbClr val="21295C"/>
                </a:solidFill>
                <a:latin typeface="Calibri"/>
                <a:ea typeface="Calibri"/>
                <a:cs typeface="Calibri"/>
                <a:sym typeface="Calibri"/>
              </a:rPr>
              <a:t>Gap identified: </a:t>
            </a:r>
            <a:r>
              <a:rPr lang="en-US" sz="1300" b="0" i="0" u="none" cap="none" strike="noStrike" dirty="0">
                <a:solidFill>
                  <a:srgbClr val="1B1F3B"/>
                </a:solidFill>
                <a:latin typeface="Calibri"/>
                <a:ea typeface="Calibri"/>
                <a:cs typeface="Calibri"/>
                <a:sym typeface="Calibri"/>
              </a:rPr>
              <a:t>a low-cost, retrofittable ESP32 node using Wi-Fi and a cloud dashboard gives real-time monitoring and history without per-bin cellular plans.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36" name="Shape 136"/>
        <p:cNvGrpSpPr/>
        <p:nvPr/>
      </p:nvGrpSpPr>
      <p:grpSpPr>
        <a:xfrm>
          <a:off x="0" y="0"/>
          <a:ext cx="0" cy="0"/>
          <a:chOff x="0" y="0"/>
          <a:chExt cx="0" cy="0"/>
        </a:xfrm>
      </p:grpSpPr>
      <p:sp>
        <p:nvSpPr>
          <p:cNvPr id="137" name="Google Shape;137;p9"/>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9"/>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9"/>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9"/>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06</a:t>
            </a:r>
            <a:endParaRPr b="0" i="0" sz="1600" u="none" cap="none" strike="noStrike">
              <a:solidFill>
                <a:schemeClr val="dk1"/>
              </a:solidFill>
              <a:latin typeface="Calibri"/>
              <a:ea typeface="Calibri"/>
              <a:cs typeface="Calibri"/>
              <a:sym typeface="Calibri"/>
            </a:endParaRPr>
          </a:p>
        </p:txBody>
      </p:sp>
      <p:sp>
        <p:nvSpPr>
          <p:cNvPr id="141" name="Google Shape;141;p9"/>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06</a:t>
            </a:r>
            <a:endParaRPr b="0" i="0" sz="1100" u="none" cap="none" strike="noStrike">
              <a:solidFill>
                <a:schemeClr val="dk1"/>
              </a:solidFill>
              <a:latin typeface="Calibri"/>
              <a:ea typeface="Calibri"/>
              <a:cs typeface="Calibri"/>
              <a:sym typeface="Calibri"/>
            </a:endParaRPr>
          </a:p>
        </p:txBody>
      </p:sp>
      <p:sp>
        <p:nvSpPr>
          <p:cNvPr id="142" name="Google Shape;142;p9"/>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System Workflow / Architecture</a:t>
            </a:r>
            <a:endParaRPr b="0" i="0" sz="3000" u="none" cap="none" strike="noStrike">
              <a:solidFill>
                <a:schemeClr val="dk1"/>
              </a:solidFill>
              <a:latin typeface="Calibri"/>
              <a:ea typeface="Calibri"/>
              <a:cs typeface="Calibri"/>
              <a:sym typeface="Calibri"/>
            </a:endParaRPr>
          </a:p>
        </p:txBody>
      </p:sp>
      <p:sp>
        <p:nvSpPr>
          <p:cNvPr id="143" name="Google Shape;143;p9"/>
          <p:cNvSpPr/>
          <p:nvPr/>
        </p:nvSpPr>
        <p:spPr>
          <a:xfrm>
            <a:off x="1234450" y="1600200"/>
            <a:ext cx="9692700" cy="4585200"/>
          </a:xfrm>
          <a:prstGeom prst="roundRect">
            <a:avLst>
              <a:gd fmla="val 2198" name="adj"/>
            </a:avLst>
          </a:prstGeom>
          <a:solidFill>
            <a:srgbClr val="FFFFFF"/>
          </a:solidFill>
          <a:ln cap="flat" cmpd="sng" w="15875">
            <a:solidFill>
              <a:srgbClr val="DEE4EF"/>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9"/>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BCC351  ·  B.TECH MINI PROJECT PRESENTATION</a:t>
            </a:r>
            <a:endParaRPr b="0" i="0" sz="900" u="none" cap="none" strike="noStrike">
              <a:solidFill>
                <a:schemeClr val="dk1"/>
              </a:solidFill>
              <a:latin typeface="Calibri"/>
              <a:ea typeface="Calibri"/>
              <a:cs typeface="Calibri"/>
              <a:sym typeface="Calibri"/>
            </a:endParaRPr>
          </a:p>
        </p:txBody>
      </p:sp>
      <p:sp>
        <p:nvSpPr>
          <p:cNvPr id="146" name="Google Shape;146;p9"/>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
        <p:nvSpPr>
          <p:cNvPr id="310" name="Diagram 310"/>
          <p:cNvSpPr/>
          <p:nvPr/>
        </p:nvSpPr>
        <p:spPr>
          <a:xfrm>
            <a:off x="1534450" y="1900000"/>
            <a:ext cx="1900000" cy="1000000"/>
          </a:xfrm>
          <a:prstGeom prst="roundRect">
            <a:avLst>
              <a:gd name="adj" fmla="val 8000"/>
            </a:avLst>
          </a:prstGeom>
          <a:solidFill>
            <a:srgbClr val="EEF3F9"/>
          </a:solidFill>
          <a:ln w="12700">
            <a:solidFill>
              <a:srgbClr val="C9D8E8"/>
            </a:solidFill>
          </a:ln>
        </p:spPr>
        <p:txBody>
          <a:bodyPr wrap="square" lIns="91440" tIns="45720" rIns="91440" bIns="45720" anchor="ctr" rtlCol="0">
            <a:noAutofit/>
          </a:bodyPr>
          <a:lstStyle/>
          <a:p>
            <a:pPr marL="0" indent="0" lvl="0" rtl="0" algn="ctr">
              <a:lnSpc>
                <a:spcPct val="100000"/>
              </a:lnSpc>
              <a:spcBef>
                <a:spcPts val="0"/>
              </a:spcBef>
              <a:spcAft>
                <a:spcPts val="300"/>
              </a:spcAft>
              <a:buNone/>
            </a:pPr>
            <a:r>
              <a:rPr lang="en-US" sz="1400" b="1" i="0" u="none" cap="none" strike="noStrike" dirty="0">
                <a:solidFill>
                  <a:srgbClr val="21295C"/>
                </a:solidFill>
                <a:latin typeface="Calibri"/>
                <a:ea typeface="Calibri"/>
                <a:cs typeface="Calibri"/>
                <a:sym typeface="Calibri"/>
              </a:rPr>
              <a:t>Smart Bin</a:t>
            </a:r>
          </a:p>
          <a:p>
            <a:pPr marL="0" indent="0" lvl="0" rtl="0" algn="ctr">
              <a:lnSpc>
                <a:spcPct val="105000"/>
              </a:lnSpc>
              <a:spcBef>
                <a:spcPts val="0"/>
              </a:spcBef>
              <a:spcAft>
                <a:spcPts val="0"/>
              </a:spcAft>
              <a:buNone/>
            </a:pPr>
            <a:r>
              <a:rPr lang="en-US" sz="1100" b="0" i="0" u="none" cap="none" strike="noStrike" dirty="0">
                <a:solidFill>
                  <a:srgbClr val="4A5470"/>
                </a:solidFill>
                <a:latin typeface="Calibri"/>
                <a:ea typeface="Calibri"/>
                <a:cs typeface="Calibri"/>
                <a:sym typeface="Calibri"/>
              </a:rPr>
              <a:t>HC-SR04 ultrasonic sensor</a:t>
            </a:r>
          </a:p>
        </p:txBody>
      </p:sp>
      <p:sp>
        <p:nvSpPr>
          <p:cNvPr id="311" name="Diagram 311"/>
          <p:cNvSpPr/>
          <p:nvPr/>
        </p:nvSpPr>
        <p:spPr>
          <a:xfrm>
            <a:off x="3932017" y="1900000"/>
            <a:ext cx="1900000" cy="1000000"/>
          </a:xfrm>
          <a:prstGeom prst="roundRect">
            <a:avLst>
              <a:gd name="adj" fmla="val 8000"/>
            </a:avLst>
          </a:prstGeom>
          <a:solidFill>
            <a:srgbClr val="21295C"/>
          </a:solidFill>
          <a:ln>
            <a:noFill/>
          </a:ln>
        </p:spPr>
        <p:txBody>
          <a:bodyPr wrap="square" lIns="91440" tIns="45720" rIns="91440" bIns="45720" anchor="ctr" rtlCol="0">
            <a:noAutofit/>
          </a:bodyPr>
          <a:lstStyle/>
          <a:p>
            <a:pPr marL="0" indent="0" lvl="0" rtl="0" algn="ctr">
              <a:lnSpc>
                <a:spcPct val="100000"/>
              </a:lnSpc>
              <a:spcBef>
                <a:spcPts val="0"/>
              </a:spcBef>
              <a:spcAft>
                <a:spcPts val="300"/>
              </a:spcAft>
              <a:buNone/>
            </a:pPr>
            <a:r>
              <a:rPr lang="en-US" sz="1400" b="1" i="0" u="none" cap="none" strike="noStrike" dirty="0">
                <a:solidFill>
                  <a:srgbClr val="FFFFFF"/>
                </a:solidFill>
                <a:latin typeface="Calibri"/>
                <a:ea typeface="Calibri"/>
                <a:cs typeface="Calibri"/>
                <a:sym typeface="Calibri"/>
              </a:rPr>
              <a:t>ESP32 Node</a:t>
            </a:r>
          </a:p>
          <a:p>
            <a:pPr marL="0" indent="0" lvl="0" rtl="0" algn="ctr">
              <a:lnSpc>
                <a:spcPct val="105000"/>
              </a:lnSpc>
              <a:spcBef>
                <a:spcPts val="0"/>
              </a:spcBef>
              <a:spcAft>
                <a:spcPts val="0"/>
              </a:spcAft>
              <a:buNone/>
            </a:pPr>
            <a:r>
              <a:rPr lang="en-US" sz="1100" b="0" i="0" u="none" cap="none" strike="noStrike" dirty="0">
                <a:solidFill>
                  <a:srgbClr val="CFE3EE"/>
                </a:solidFill>
                <a:latin typeface="Calibri"/>
                <a:ea typeface="Calibri"/>
                <a:cs typeface="Calibri"/>
                <a:sym typeface="Calibri"/>
              </a:rPr>
              <a:t>Microcontroller · Wi-Fi</a:t>
            </a:r>
          </a:p>
        </p:txBody>
      </p:sp>
      <p:sp>
        <p:nvSpPr>
          <p:cNvPr id="312" name="Diagram 312"/>
          <p:cNvSpPr/>
          <p:nvPr/>
        </p:nvSpPr>
        <p:spPr>
          <a:xfrm>
            <a:off x="6329584" y="1900000"/>
            <a:ext cx="1900000" cy="1000000"/>
          </a:xfrm>
          <a:prstGeom prst="roundRect">
            <a:avLst>
              <a:gd name="adj" fmla="val 8000"/>
            </a:avLst>
          </a:prstGeom>
          <a:solidFill>
            <a:srgbClr val="EEF3F9"/>
          </a:solidFill>
          <a:ln w="12700">
            <a:solidFill>
              <a:srgbClr val="C9D8E8"/>
            </a:solidFill>
          </a:ln>
        </p:spPr>
        <p:txBody>
          <a:bodyPr wrap="square" lIns="91440" tIns="45720" rIns="91440" bIns="45720" anchor="ctr" rtlCol="0">
            <a:noAutofit/>
          </a:bodyPr>
          <a:lstStyle/>
          <a:p>
            <a:pPr marL="0" indent="0" lvl="0" rtl="0" algn="ctr">
              <a:lnSpc>
                <a:spcPct val="100000"/>
              </a:lnSpc>
              <a:spcBef>
                <a:spcPts val="0"/>
              </a:spcBef>
              <a:spcAft>
                <a:spcPts val="300"/>
              </a:spcAft>
              <a:buNone/>
            </a:pPr>
            <a:r>
              <a:rPr lang="en-US" sz="1400" b="1" i="0" u="none" cap="none" strike="noStrike" dirty="0">
                <a:solidFill>
                  <a:srgbClr val="21295C"/>
                </a:solidFill>
                <a:latin typeface="Calibri"/>
                <a:ea typeface="Calibri"/>
                <a:cs typeface="Calibri"/>
                <a:sym typeface="Calibri"/>
              </a:rPr>
              <a:t>Cloud Platform</a:t>
            </a:r>
          </a:p>
          <a:p>
            <a:pPr marL="0" indent="0" lvl="0" rtl="0" algn="ctr">
              <a:lnSpc>
                <a:spcPct val="105000"/>
              </a:lnSpc>
              <a:spcBef>
                <a:spcPts val="0"/>
              </a:spcBef>
              <a:spcAft>
                <a:spcPts val="0"/>
              </a:spcAft>
              <a:buNone/>
            </a:pPr>
            <a:r>
              <a:rPr lang="en-US" sz="1100" b="0" i="0" u="none" cap="none" strike="noStrike" dirty="0">
                <a:solidFill>
                  <a:srgbClr val="4A5470"/>
                </a:solidFill>
                <a:latin typeface="Calibri"/>
                <a:ea typeface="Calibri"/>
                <a:cs typeface="Calibri"/>
                <a:sym typeface="Calibri"/>
              </a:rPr>
              <a:t>ThingSpeak / Firebase</a:t>
            </a:r>
          </a:p>
        </p:txBody>
      </p:sp>
      <p:sp>
        <p:nvSpPr>
          <p:cNvPr id="313" name="Diagram 313"/>
          <p:cNvSpPr/>
          <p:nvPr/>
        </p:nvSpPr>
        <p:spPr>
          <a:xfrm>
            <a:off x="8727151" y="1900000"/>
            <a:ext cx="1900000" cy="1000000"/>
          </a:xfrm>
          <a:prstGeom prst="roundRect">
            <a:avLst>
              <a:gd name="adj" fmla="val 8000"/>
            </a:avLst>
          </a:prstGeom>
          <a:solidFill>
            <a:srgbClr val="EEF3F9"/>
          </a:solidFill>
          <a:ln w="12700">
            <a:solidFill>
              <a:srgbClr val="C9D8E8"/>
            </a:solidFill>
          </a:ln>
        </p:spPr>
        <p:txBody>
          <a:bodyPr wrap="square" lIns="91440" tIns="45720" rIns="91440" bIns="45720" anchor="ctr" rtlCol="0">
            <a:noAutofit/>
          </a:bodyPr>
          <a:lstStyle/>
          <a:p>
            <a:pPr marL="0" indent="0" lvl="0" rtl="0" algn="ctr">
              <a:lnSpc>
                <a:spcPct val="100000"/>
              </a:lnSpc>
              <a:spcBef>
                <a:spcPts val="0"/>
              </a:spcBef>
              <a:spcAft>
                <a:spcPts val="300"/>
              </a:spcAft>
              <a:buNone/>
            </a:pPr>
            <a:r>
              <a:rPr lang="en-US" sz="1400" b="1" i="0" u="none" cap="none" strike="noStrike" dirty="0">
                <a:solidFill>
                  <a:srgbClr val="21295C"/>
                </a:solidFill>
                <a:latin typeface="Calibri"/>
                <a:ea typeface="Calibri"/>
                <a:cs typeface="Calibri"/>
                <a:sym typeface="Calibri"/>
              </a:rPr>
              <a:t>Dashboard</a:t>
            </a:r>
          </a:p>
          <a:p>
            <a:pPr marL="0" indent="0" lvl="0" rtl="0" algn="ctr">
              <a:lnSpc>
                <a:spcPct val="105000"/>
              </a:lnSpc>
              <a:spcBef>
                <a:spcPts val="0"/>
              </a:spcBef>
              <a:spcAft>
                <a:spcPts val="0"/>
              </a:spcAft>
              <a:buNone/>
            </a:pPr>
            <a:r>
              <a:rPr lang="en-US" sz="1100" b="0" i="0" u="none" cap="none" strike="noStrike" dirty="0">
                <a:solidFill>
                  <a:srgbClr val="4A5470"/>
                </a:solidFill>
                <a:latin typeface="Calibri"/>
                <a:ea typeface="Calibri"/>
                <a:cs typeface="Calibri"/>
                <a:sym typeface="Calibri"/>
              </a:rPr>
              <a:t>Sanitation staff · Authorities</a:t>
            </a:r>
          </a:p>
        </p:txBody>
      </p:sp>
      <p:cxnSp>
        <p:nvCxnSpPr>
          <p:cNvPr id="314" name="Arrow 314"/>
          <p:cNvCxnSpPr/>
          <p:nvPr/>
        </p:nvCxnSpPr>
        <p:spPr>
          <a:xfrm>
            <a:off x="3474450" y="2400000"/>
            <a:ext cx="417567" cy="0"/>
          </a:xfrm>
          <a:prstGeom prst="straightConnector1">
            <a:avLst/>
          </a:prstGeom>
          <a:ln w="19050">
            <a:solidFill>
              <a:srgbClr val="6B7593"/>
            </a:solidFill>
            <a:tailEnd type="triangle" w="med" len="med"/>
          </a:ln>
        </p:spPr>
      </p:cxnSp>
      <p:cxnSp>
        <p:nvCxnSpPr>
          <p:cNvPr id="315" name="Arrow 315"/>
          <p:cNvCxnSpPr/>
          <p:nvPr/>
        </p:nvCxnSpPr>
        <p:spPr>
          <a:xfrm>
            <a:off x="5872017" y="2400000"/>
            <a:ext cx="417567" cy="0"/>
          </a:xfrm>
          <a:prstGeom prst="straightConnector1">
            <a:avLst/>
          </a:prstGeom>
          <a:ln w="19050">
            <a:solidFill>
              <a:srgbClr val="6B7593"/>
            </a:solidFill>
            <a:tailEnd type="triangle" w="med" len="med"/>
          </a:ln>
        </p:spPr>
      </p:cxnSp>
      <p:cxnSp>
        <p:nvCxnSpPr>
          <p:cNvPr id="316" name="Arrow 316"/>
          <p:cNvCxnSpPr/>
          <p:nvPr/>
        </p:nvCxnSpPr>
        <p:spPr>
          <a:xfrm>
            <a:off x="8269584" y="2400000"/>
            <a:ext cx="417567" cy="0"/>
          </a:xfrm>
          <a:prstGeom prst="straightConnector1">
            <a:avLst/>
          </a:prstGeom>
          <a:ln w="19050">
            <a:solidFill>
              <a:srgbClr val="6B7593"/>
            </a:solidFill>
            <a:tailEnd type="triangle" w="med" len="med"/>
          </a:ln>
        </p:spPr>
      </p:cxnSp>
      <p:sp>
        <p:nvSpPr>
          <p:cNvPr id="317" name="Diagram 317"/>
          <p:cNvSpPr/>
          <p:nvPr/>
        </p:nvSpPr>
        <p:spPr>
          <a:xfrm>
            <a:off x="1534450" y="3350000"/>
            <a:ext cx="4297567" cy="1150000"/>
          </a:xfrm>
          <a:prstGeom prst="roundRect">
            <a:avLst>
              <a:gd name="adj" fmla="val 8000"/>
            </a:avLst>
          </a:prstGeom>
          <a:solidFill>
            <a:srgbClr val="EEF3F9"/>
          </a:solidFill>
          <a:ln w="12700">
            <a:solidFill>
              <a:srgbClr val="C9D8E8"/>
            </a:solidFill>
          </a:ln>
        </p:spPr>
        <p:txBody>
          <a:bodyPr wrap="square" lIns="91440" tIns="45720" rIns="91440" bIns="45720" anchor="ctr" rtlCol="0">
            <a:noAutofit/>
          </a:bodyPr>
          <a:lstStyle/>
          <a:p>
            <a:pPr marL="0" indent="0" lvl="0" rtl="0" algn="ctr">
              <a:lnSpc>
                <a:spcPct val="100000"/>
              </a:lnSpc>
              <a:spcBef>
                <a:spcPts val="0"/>
              </a:spcBef>
              <a:spcAft>
                <a:spcPts val="300"/>
              </a:spcAft>
              <a:buNone/>
            </a:pPr>
            <a:r>
              <a:rPr lang="en-US" sz="1400" b="1" i="0" u="none" cap="none" strike="noStrike" dirty="0">
                <a:solidFill>
                  <a:srgbClr val="21295C"/>
                </a:solidFill>
                <a:latin typeface="Calibri"/>
                <a:ea typeface="Calibri"/>
                <a:cs typeface="Calibri"/>
                <a:sym typeface="Calibri"/>
              </a:rPr>
              <a:t>Telemetry Data</a:t>
            </a:r>
          </a:p>
          <a:p>
            <a:pPr marL="0" indent="0" lvl="0" rtl="0" algn="ctr">
              <a:lnSpc>
                <a:spcPct val="105000"/>
              </a:lnSpc>
              <a:spcBef>
                <a:spcPts val="0"/>
              </a:spcBef>
              <a:spcAft>
                <a:spcPts val="0"/>
              </a:spcAft>
              <a:buNone/>
            </a:pPr>
            <a:r>
              <a:rPr lang="en-US" sz="1100" b="0" i="0" u="none" cap="none" strike="noStrike" dirty="0">
                <a:solidFill>
                  <a:srgbClr val="4A5470"/>
                </a:solidFill>
                <a:latin typeface="Calibri"/>
                <a:ea typeface="Calibri"/>
                <a:cs typeface="Calibri"/>
                <a:sym typeface="Calibri"/>
              </a:rPr>
              <a:t>Distance readings converted to free space and fill %</a:t>
            </a:r>
          </a:p>
          <a:p>
            <a:pPr marL="0" indent="0" lvl="0" rtl="0" algn="ctr">
              <a:lnSpc>
                <a:spcPct val="105000"/>
              </a:lnSpc>
              <a:spcBef>
                <a:spcPts val="0"/>
              </a:spcBef>
              <a:spcAft>
                <a:spcPts val="0"/>
              </a:spcAft>
              <a:buNone/>
            </a:pPr>
            <a:r>
              <a:rPr lang="en-US" sz="1100" b="0" i="0" u="none" cap="none" strike="noStrike" dirty="0">
                <a:solidFill>
                  <a:srgbClr val="4A5470"/>
                </a:solidFill>
                <a:latin typeface="Calibri"/>
                <a:ea typeface="Calibri"/>
                <a:cs typeface="Calibri"/>
                <a:sym typeface="Calibri"/>
              </a:rPr>
              <a:t>Sent over Wi-Fi to the cloud</a:t>
            </a:r>
          </a:p>
        </p:txBody>
      </p:sp>
      <p:sp>
        <p:nvSpPr>
          <p:cNvPr id="318" name="Diagram 318"/>
          <p:cNvSpPr/>
          <p:nvPr/>
        </p:nvSpPr>
        <p:spPr>
          <a:xfrm>
            <a:off x="6329584" y="3350000"/>
            <a:ext cx="4297567" cy="1150000"/>
          </a:xfrm>
          <a:prstGeom prst="roundRect">
            <a:avLst>
              <a:gd name="adj" fmla="val 8000"/>
            </a:avLst>
          </a:prstGeom>
          <a:solidFill>
            <a:srgbClr val="1C7293"/>
          </a:solidFill>
          <a:ln>
            <a:noFill/>
          </a:ln>
        </p:spPr>
        <p:txBody>
          <a:bodyPr wrap="square" lIns="91440" tIns="45720" rIns="91440" bIns="45720" anchor="ctr" rtlCol="0">
            <a:noAutofit/>
          </a:bodyPr>
          <a:lstStyle/>
          <a:p>
            <a:pPr marL="0" indent="0" lvl="0" rtl="0" algn="ctr">
              <a:lnSpc>
                <a:spcPct val="100000"/>
              </a:lnSpc>
              <a:spcBef>
                <a:spcPts val="0"/>
              </a:spcBef>
              <a:spcAft>
                <a:spcPts val="300"/>
              </a:spcAft>
              <a:buNone/>
            </a:pPr>
            <a:r>
              <a:rPr lang="en-US" sz="1400" b="1" i="0" u="none" cap="none" strike="noStrike" dirty="0">
                <a:solidFill>
                  <a:srgbClr val="FFFFFF"/>
                </a:solidFill>
                <a:latin typeface="Calibri"/>
                <a:ea typeface="Calibri"/>
                <a:cs typeface="Calibri"/>
                <a:sym typeface="Calibri"/>
              </a:rPr>
              <a:t>Alert Mechanism</a:t>
            </a:r>
          </a:p>
          <a:p>
            <a:pPr marL="0" indent="0" lvl="0" rtl="0" algn="ctr">
              <a:lnSpc>
                <a:spcPct val="105000"/>
              </a:lnSpc>
              <a:spcBef>
                <a:spcPts val="0"/>
              </a:spcBef>
              <a:spcAft>
                <a:spcPts val="0"/>
              </a:spcAft>
              <a:buNone/>
            </a:pPr>
            <a:r>
              <a:rPr lang="en-US" sz="1100" b="0" i="0" u="none" cap="none" strike="noStrike" dirty="0">
                <a:solidFill>
                  <a:srgbClr val="FFFFFF"/>
                </a:solidFill>
                <a:latin typeface="Calibri"/>
                <a:ea typeface="Calibri"/>
                <a:cs typeface="Calibri"/>
                <a:sym typeface="Calibri"/>
              </a:rPr>
              <a:t>IFTTT trigger when a bin exceeds 90% capacity</a:t>
            </a:r>
          </a:p>
          <a:p>
            <a:pPr marL="0" indent="0" lvl="0" rtl="0" algn="ctr">
              <a:lnSpc>
                <a:spcPct val="105000"/>
              </a:lnSpc>
              <a:spcBef>
                <a:spcPts val="0"/>
              </a:spcBef>
              <a:spcAft>
                <a:spcPts val="0"/>
              </a:spcAft>
              <a:buNone/>
            </a:pPr>
            <a:r>
              <a:rPr lang="en-US" sz="1100" b="0" i="0" u="none" cap="none" strike="noStrike" dirty="0">
                <a:solidFill>
                  <a:srgbClr val="FFFFFF"/>
                </a:solidFill>
                <a:latin typeface="Calibri"/>
                <a:ea typeface="Calibri"/>
                <a:cs typeface="Calibri"/>
                <a:sym typeface="Calibri"/>
              </a:rPr>
              <a:t>Email and SMS to collection staff</a:t>
            </a:r>
          </a:p>
        </p:txBody>
      </p:sp>
      <p:cxnSp>
        <p:nvCxnSpPr>
          <p:cNvPr id="319" name="Arrow 319"/>
          <p:cNvCxnSpPr/>
          <p:nvPr/>
        </p:nvCxnSpPr>
        <p:spPr>
          <a:xfrm>
            <a:off x="4882017" y="2940000"/>
            <a:ext cx="0" cy="370000"/>
          </a:xfrm>
          <a:prstGeom prst="straightConnector1">
            <a:avLst/>
          </a:prstGeom>
          <a:ln w="19050">
            <a:solidFill>
              <a:srgbClr val="6B7593"/>
            </a:solidFill>
            <a:tailEnd type="triangle" w="med" len="med"/>
          </a:ln>
        </p:spPr>
      </p:cxnSp>
      <p:cxnSp>
        <p:nvCxnSpPr>
          <p:cNvPr id="320" name="Arrow 320"/>
          <p:cNvCxnSpPr/>
          <p:nvPr/>
        </p:nvCxnSpPr>
        <p:spPr>
          <a:xfrm>
            <a:off x="7279584" y="2940000"/>
            <a:ext cx="0" cy="370000"/>
          </a:xfrm>
          <a:prstGeom prst="straightConnector1">
            <a:avLst/>
          </a:prstGeom>
          <a:ln w="19050">
            <a:solidFill>
              <a:srgbClr val="6B7593"/>
            </a:solidFill>
            <a:tailEnd type="triangle" w="med" len="med"/>
          </a:ln>
        </p:spPr>
      </p:cxnSp>
      <p:sp>
        <p:nvSpPr>
          <p:cNvPr id="321" name="Flow"/>
          <p:cNvSpPr/>
          <p:nvPr/>
        </p:nvSpPr>
        <p:spPr>
          <a:xfrm>
            <a:off x="1534450" y="4800000"/>
            <a:ext cx="9092700" cy="1000000"/>
          </a:xfrm>
          <a:prstGeom prst="roundRect">
            <a:avLst>
              <a:gd name="adj" fmla="val 6000"/>
            </a:avLst>
          </a:prstGeom>
          <a:solidFill>
            <a:srgbClr val="F6F8FB"/>
          </a:solidFill>
          <a:ln w="12700">
            <a:solidFill>
              <a:srgbClr val="DEE4EF"/>
            </a:solidFill>
          </a:ln>
        </p:spPr>
        <p:txBody>
          <a:bodyPr wrap="square" lIns="182880" tIns="45720" rIns="182880" bIns="45720" anchor="ctr" rtlCol="0">
            <a:noAutofit/>
          </a:bodyPr>
          <a:lstStyle/>
          <a:p>
            <a:pPr marL="0" indent="0" lvl="0" rtl="0" algn="l">
              <a:lnSpc>
                <a:spcPct val="100000"/>
              </a:lnSpc>
              <a:spcBef>
                <a:spcPts val="0"/>
              </a:spcBef>
              <a:spcAft>
                <a:spcPts val="300"/>
              </a:spcAft>
              <a:buNone/>
            </a:pPr>
            <a:r>
              <a:rPr lang="en-US" sz="1100" b="1" i="0" u="none" cap="none" strike="noStrike" dirty="0">
                <a:solidFill>
                  <a:srgbClr val="1C7293"/>
                </a:solidFill>
                <a:latin typeface="Calibri"/>
                <a:ea typeface="Calibri"/>
                <a:cs typeface="Calibri"/>
                <a:sym typeface="Calibri"/>
              </a:rPr>
              <a:t>BIN STATUS FLOW</a:t>
            </a:r>
          </a:p>
          <a:p>
            <a:pPr marL="0" indent="0" lvl="0" rtl="0" algn="l">
              <a:lnSpc>
                <a:spcPct val="110000"/>
              </a:lnSpc>
              <a:spcBef>
                <a:spcPts val="0"/>
              </a:spcBef>
              <a:spcAft>
                <a:spcPts val="0"/>
              </a:spcAft>
              <a:buNone/>
            </a:pPr>
            <a:r>
              <a:rPr lang="en-US" sz="1300" b="1" i="0" u="none" cap="none" strike="noStrike" dirty="0">
                <a:solidFill>
                  <a:srgbClr val="21295C"/>
                </a:solidFill>
                <a:latin typeface="Calibri"/>
                <a:ea typeface="Calibri"/>
                <a:cs typeface="Calibri"/>
                <a:sym typeface="Calibri"/>
              </a:rPr>
              <a:t>Measure Distance   →   Compute Fill %   →   Upload to Cloud   →   Alert at 90%   →   Dispatch Collection</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51" name="Shape 151"/>
        <p:cNvGrpSpPr/>
        <p:nvPr/>
      </p:nvGrpSpPr>
      <p:grpSpPr>
        <a:xfrm>
          <a:off x="0" y="0"/>
          <a:ext cx="0" cy="0"/>
          <a:chOff x="0" y="0"/>
          <a:chExt cx="0" cy="0"/>
        </a:xfrm>
      </p:grpSpPr>
      <p:sp>
        <p:nvSpPr>
          <p:cNvPr id="152" name="Google Shape;152;p10"/>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0"/>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0"/>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0"/>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07</a:t>
            </a:r>
            <a:endParaRPr b="0" i="0" sz="1600" u="none" cap="none" strike="noStrike">
              <a:solidFill>
                <a:schemeClr val="dk1"/>
              </a:solidFill>
              <a:latin typeface="Calibri"/>
              <a:ea typeface="Calibri"/>
              <a:cs typeface="Calibri"/>
              <a:sym typeface="Calibri"/>
            </a:endParaRPr>
          </a:p>
        </p:txBody>
      </p:sp>
      <p:sp>
        <p:nvSpPr>
          <p:cNvPr id="156" name="Google Shape;156;p10"/>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07</a:t>
            </a:r>
            <a:endParaRPr b="0" i="0" sz="1100" u="none" cap="none" strike="noStrike">
              <a:solidFill>
                <a:schemeClr val="dk1"/>
              </a:solidFill>
              <a:latin typeface="Calibri"/>
              <a:ea typeface="Calibri"/>
              <a:cs typeface="Calibri"/>
              <a:sym typeface="Calibri"/>
            </a:endParaRPr>
          </a:p>
        </p:txBody>
      </p:sp>
      <p:sp>
        <p:nvSpPr>
          <p:cNvPr id="157" name="Google Shape;157;p10"/>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Expected Outcome</a:t>
            </a:r>
            <a:endParaRPr b="0" i="0" sz="3000" u="none" cap="none" strike="noStrike">
              <a:solidFill>
                <a:schemeClr val="dk1"/>
              </a:solidFill>
              <a:latin typeface="Calibri"/>
              <a:ea typeface="Calibri"/>
              <a:cs typeface="Calibri"/>
              <a:sym typeface="Calibri"/>
            </a:endParaRPr>
          </a:p>
        </p:txBody>
      </p:sp>
      <p:sp>
        <p:nvSpPr>
          <p:cNvPr id="158" name="Google Shape;158;p10"/>
          <p:cNvSpPr/>
          <p:nvPr/>
        </p:nvSpPr>
        <p:spPr>
          <a:xfrm>
            <a:off x="1249640" y="160019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0"/>
          <p:cNvSpPr/>
          <p:nvPr/>
        </p:nvSpPr>
        <p:spPr>
          <a:xfrm>
            <a:off x="1478240" y="180135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0"/>
          <p:cNvSpPr/>
          <p:nvPr/>
        </p:nvSpPr>
        <p:spPr>
          <a:xfrm>
            <a:off x="1478240" y="1801358"/>
            <a:ext cx="3840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61" name="Google Shape;161;p10"/>
          <p:cNvSpPr/>
          <p:nvPr/>
        </p:nvSpPr>
        <p:spPr>
          <a:xfrm>
            <a:off x="2072600" y="1600190"/>
            <a:ext cx="8595300" cy="777300"/>
          </a:xfrm>
          <a:prstGeom prst="rect">
            <a:avLst/>
          </a:prstGeom>
          <a:noFill/>
          <a:ln>
            <a:noFill/>
          </a:ln>
        </p:spPr>
        <p:txBody>
          <a:bodyPr anchorCtr="0" anchor="ctr" bIns="45700" lIns="91425" spcFirstLastPara="1" rIns="91425" wrap="square" tIns="45700">
            <a:noAutofit/>
          </a:bodyPr>
          <a:lstStyle/>
          <a:p>
            <a:pPr marL="0" indent="0" lvl="0" rtl="0" algn="l">
              <a:lnSpc>
                <a:spcPct val="105000"/>
              </a:lnSpc>
              <a:spcBef>
                <a:spcPts val="0"/>
              </a:spcBef>
              <a:spcAft>
                <a:spcPts val="0"/>
              </a:spcAft>
              <a:buNone/>
            </a:pPr>
            <a:r>
              <a:rPr lang="en-US" sz="1400" b="0" i="0" u="none" cap="none" strike="noStrike" dirty="0">
                <a:solidFill>
                  <a:srgbClr val="1B1F3B"/>
                </a:solidFill>
                <a:latin typeface="Calibri"/>
                <a:ea typeface="Calibri"/>
                <a:cs typeface="Calibri"/>
                <a:sym typeface="Calibri"/>
              </a:rPr>
              <a:t>Fully functional smart-bin prototype that accurately calculates the free space left in the bin.</a:t>
            </a:r>
          </a:p>
        </p:txBody>
      </p:sp>
      <p:sp>
        <p:nvSpPr>
          <p:cNvPr id="162" name="Google Shape;162;p10"/>
          <p:cNvSpPr/>
          <p:nvPr/>
        </p:nvSpPr>
        <p:spPr>
          <a:xfrm>
            <a:off x="1249640" y="256031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0"/>
          <p:cNvSpPr/>
          <p:nvPr/>
        </p:nvSpPr>
        <p:spPr>
          <a:xfrm>
            <a:off x="1478240" y="276147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0"/>
          <p:cNvSpPr/>
          <p:nvPr/>
        </p:nvSpPr>
        <p:spPr>
          <a:xfrm>
            <a:off x="1478240" y="2761478"/>
            <a:ext cx="3840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65" name="Google Shape;165;p10"/>
          <p:cNvSpPr/>
          <p:nvPr/>
        </p:nvSpPr>
        <p:spPr>
          <a:xfrm>
            <a:off x="2072600" y="2560310"/>
            <a:ext cx="8595300" cy="777300"/>
          </a:xfrm>
          <a:prstGeom prst="rect">
            <a:avLst/>
          </a:prstGeom>
          <a:noFill/>
          <a:ln>
            <a:noFill/>
          </a:ln>
        </p:spPr>
        <p:txBody>
          <a:bodyPr anchorCtr="0" anchor="ctr" bIns="45700" lIns="91425" spcFirstLastPara="1" rIns="91425" wrap="square" tIns="45700">
            <a:noAutofit/>
          </a:bodyPr>
          <a:lstStyle/>
          <a:p>
            <a:pPr marL="0" indent="0" lvl="0" rtl="0" algn="l">
              <a:lnSpc>
                <a:spcPct val="105000"/>
              </a:lnSpc>
              <a:spcBef>
                <a:spcPts val="0"/>
              </a:spcBef>
              <a:spcAft>
                <a:spcPts val="0"/>
              </a:spcAft>
              <a:buNone/>
            </a:pPr>
            <a:r>
              <a:rPr lang="en-US" sz="1400" b="0" i="0" u="none" cap="none" strike="noStrike" dirty="0">
                <a:solidFill>
                  <a:srgbClr val="1B1F3B"/>
                </a:solidFill>
                <a:latin typeface="Calibri"/>
                <a:ea typeface="Calibri"/>
                <a:cs typeface="Calibri"/>
                <a:sym typeface="Calibri"/>
              </a:rPr>
              <a:t>Cloud dashboard showing fill level in an easy graphical form, such as a gauge or percentage bar.</a:t>
            </a:r>
          </a:p>
        </p:txBody>
      </p:sp>
      <p:sp>
        <p:nvSpPr>
          <p:cNvPr id="166" name="Google Shape;166;p10"/>
          <p:cNvSpPr/>
          <p:nvPr/>
        </p:nvSpPr>
        <p:spPr>
          <a:xfrm>
            <a:off x="1249640" y="352043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0"/>
          <p:cNvSpPr/>
          <p:nvPr/>
        </p:nvSpPr>
        <p:spPr>
          <a:xfrm>
            <a:off x="1478240" y="372159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0"/>
          <p:cNvSpPr/>
          <p:nvPr/>
        </p:nvSpPr>
        <p:spPr>
          <a:xfrm>
            <a:off x="1478240" y="3721598"/>
            <a:ext cx="3840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69" name="Google Shape;169;p10"/>
          <p:cNvSpPr/>
          <p:nvPr/>
        </p:nvSpPr>
        <p:spPr>
          <a:xfrm>
            <a:off x="2072600" y="3520430"/>
            <a:ext cx="8595300" cy="777300"/>
          </a:xfrm>
          <a:prstGeom prst="rect">
            <a:avLst/>
          </a:prstGeom>
          <a:noFill/>
          <a:ln>
            <a:noFill/>
          </a:ln>
        </p:spPr>
        <p:txBody>
          <a:bodyPr anchorCtr="0" anchor="ctr" bIns="45700" lIns="91425" spcFirstLastPara="1" rIns="91425" wrap="square" tIns="45700">
            <a:noAutofit/>
          </a:bodyPr>
          <a:lstStyle/>
          <a:p>
            <a:pPr marL="0" indent="0" lvl="0" rtl="0" algn="l">
              <a:lnSpc>
                <a:spcPct val="105000"/>
              </a:lnSpc>
              <a:spcBef>
                <a:spcPts val="0"/>
              </a:spcBef>
              <a:spcAft>
                <a:spcPts val="0"/>
              </a:spcAft>
              <a:buNone/>
            </a:pPr>
            <a:r>
              <a:rPr lang="en-US" sz="1400" b="0" i="0" u="none" cap="none" strike="noStrike" dirty="0">
                <a:solidFill>
                  <a:srgbClr val="1B1F3B"/>
                </a:solidFill>
                <a:latin typeface="Calibri"/>
                <a:ea typeface="Calibri"/>
                <a:cs typeface="Calibri"/>
                <a:sym typeface="Calibri"/>
              </a:rPr>
              <a:t>Automated email/SMS notification to designated staff the moment the bin is classified as “Full”.</a:t>
            </a:r>
          </a:p>
        </p:txBody>
      </p:sp>
      <p:sp>
        <p:nvSpPr>
          <p:cNvPr id="170" name="Google Shape;170;p10"/>
          <p:cNvSpPr/>
          <p:nvPr/>
        </p:nvSpPr>
        <p:spPr>
          <a:xfrm>
            <a:off x="1249640" y="4480550"/>
            <a:ext cx="9692700" cy="777300"/>
          </a:xfrm>
          <a:prstGeom prst="roundRect">
            <a:avLst>
              <a:gd fmla="val 10588" name="adj"/>
            </a:avLst>
          </a:prstGeom>
          <a:solidFill>
            <a:srgbClr val="FFFFFF"/>
          </a:solidFill>
          <a:ln cap="flat" cmpd="sng" w="12700">
            <a:solidFill>
              <a:srgbClr val="DEE4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0"/>
          <p:cNvSpPr/>
          <p:nvPr/>
        </p:nvSpPr>
        <p:spPr>
          <a:xfrm>
            <a:off x="1478240" y="4681718"/>
            <a:ext cx="384000" cy="384000"/>
          </a:xfrm>
          <a:prstGeom prst="ellipse">
            <a:avLst/>
          </a:prstGeom>
          <a:solidFill>
            <a:srgbClr val="1C729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0"/>
          <p:cNvSpPr/>
          <p:nvPr/>
        </p:nvSpPr>
        <p:spPr>
          <a:xfrm>
            <a:off x="1478240" y="4681718"/>
            <a:ext cx="384000" cy="384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73" name="Google Shape;173;p10"/>
          <p:cNvSpPr/>
          <p:nvPr/>
        </p:nvSpPr>
        <p:spPr>
          <a:xfrm>
            <a:off x="2072600" y="4480550"/>
            <a:ext cx="8595300" cy="777300"/>
          </a:xfrm>
          <a:prstGeom prst="rect">
            <a:avLst/>
          </a:prstGeom>
          <a:noFill/>
          <a:ln>
            <a:noFill/>
          </a:ln>
        </p:spPr>
        <p:txBody>
          <a:bodyPr anchorCtr="0" anchor="ctr" bIns="45700" lIns="91425" spcFirstLastPara="1" rIns="91425" wrap="square" tIns="45700">
            <a:noAutofit/>
          </a:bodyPr>
          <a:lstStyle/>
          <a:p>
            <a:pPr marL="0" indent="0" lvl="0" rtl="0" algn="l">
              <a:lnSpc>
                <a:spcPct val="105000"/>
              </a:lnSpc>
              <a:spcBef>
                <a:spcPts val="0"/>
              </a:spcBef>
              <a:spcAft>
                <a:spcPts val="0"/>
              </a:spcAft>
              <a:buNone/>
            </a:pPr>
            <a:r>
              <a:rPr lang="en-US" sz="1400" b="0" i="0" u="none" cap="none" strike="noStrike" dirty="0">
                <a:solidFill>
                  <a:srgbClr val="1B1F3B"/>
                </a:solidFill>
                <a:latin typeface="Calibri"/>
                <a:ea typeface="Calibri"/>
                <a:cs typeface="Calibri"/>
                <a:sym typeface="Calibri"/>
              </a:rPr>
              <a:t>Deployable on campuses, residential societies, parks, hospitals and industrial complexes for timely waste disposal.</a:t>
            </a:r>
          </a:p>
        </p:txBody>
      </p:sp>
      <p:sp>
        <p:nvSpPr>
          <p:cNvPr id="174" name="Google Shape;174;p10"/>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BCC351  ·  B.TECH MINI PROJECT PRESENTATION</a:t>
            </a:r>
            <a:endParaRPr b="0" i="0" sz="900" u="none" cap="none" strike="noStrike">
              <a:solidFill>
                <a:schemeClr val="dk1"/>
              </a:solidFill>
              <a:latin typeface="Calibri"/>
              <a:ea typeface="Calibri"/>
              <a:cs typeface="Calibri"/>
              <a:sym typeface="Calibri"/>
            </a:endParaRPr>
          </a:p>
        </p:txBody>
      </p:sp>
      <p:sp>
        <p:nvSpPr>
          <p:cNvPr id="175" name="Google Shape;175;p10"/>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
        <p:nvSpPr>
          <p:cNvPr id="300" name="Future scope"/>
          <p:cNvSpPr/>
          <p:nvPr/>
        </p:nvSpPr>
        <p:spPr>
          <a:xfrm>
            <a:off x="1249640" y="5450000"/>
            <a:ext cx="9692700" cy="760000"/>
          </a:xfrm>
          <a:prstGeom prst="rect">
            <a:avLst/>
          </a:prstGeom>
          <a:noFill/>
          <a:ln>
            <a:noFill/>
          </a:ln>
        </p:spPr>
        <p:txBody>
          <a:bodyPr wrap="square" lIns="91425" tIns="45700" rIns="91425" bIns="45700" anchor="ctr" rtlCol="0">
            <a:noAutofit/>
          </a:bodyPr>
          <a:lstStyle/>
          <a:p>
            <a:pPr marL="0" indent="0" lvl="0" rtl="0" algn="l">
              <a:lnSpc>
                <a:spcPct val="100000"/>
              </a:lnSpc>
              <a:spcBef>
                <a:spcPts val="0"/>
              </a:spcBef>
              <a:spcAft>
                <a:spcPts val="200"/>
              </a:spcAft>
              <a:buNone/>
            </a:pPr>
            <a:r>
              <a:rPr lang="en-US" sz="1100" b="1" i="0" u="none" cap="none" strike="noStrike" dirty="0">
                <a:solidFill>
                  <a:srgbClr val="1C7293"/>
                </a:solidFill>
                <a:latin typeface="Calibri"/>
                <a:ea typeface="Calibri"/>
                <a:cs typeface="Calibri"/>
                <a:sym typeface="Calibri"/>
              </a:rPr>
              <a:t>FUTURE SCOPE   </a:t>
            </a:r>
          </a:p>
          <a:p>
            <a:pPr marL="0" indent="0" lvl="0" rtl="0" algn="l">
              <a:lnSpc>
                <a:spcPct val="110000"/>
              </a:lnSpc>
              <a:spcBef>
                <a:spcPts val="0"/>
              </a:spcBef>
              <a:spcAft>
                <a:spcPts val="0"/>
              </a:spcAft>
              <a:buNone/>
            </a:pPr>
            <a:r>
              <a:rPr lang="en-US" sz="1300" b="0" i="0" u="none" cap="none" strike="noStrike" dirty="0">
                <a:solidFill>
                  <a:srgbClr val="1B1F3B"/>
                </a:solidFill>
                <a:latin typeface="Calibri"/>
                <a:ea typeface="Calibri"/>
                <a:cs typeface="Calibri"/>
                <a:sym typeface="Calibri"/>
              </a:rPr>
              <a:t>Machine learning to predict when bins will be full, and a mobile app with GPS-based optimal routing for garbage trucks.</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B"/>
        </a:solidFill>
      </p:bgPr>
    </p:bg>
    <p:spTree>
      <p:nvGrpSpPr>
        <p:cNvPr id="180" name="Shape 180"/>
        <p:cNvGrpSpPr/>
        <p:nvPr/>
      </p:nvGrpSpPr>
      <p:grpSpPr>
        <a:xfrm>
          <a:off x="0" y="0"/>
          <a:ext cx="0" cy="0"/>
          <a:chOff x="0" y="0"/>
          <a:chExt cx="0" cy="0"/>
        </a:xfrm>
      </p:grpSpPr>
      <p:sp>
        <p:nvSpPr>
          <p:cNvPr id="181" name="Google Shape;181;p11"/>
          <p:cNvSpPr/>
          <p:nvPr/>
        </p:nvSpPr>
        <p:spPr>
          <a:xfrm>
            <a:off x="10424160" y="-1463040"/>
            <a:ext cx="3108960" cy="3108960"/>
          </a:xfrm>
          <a:prstGeom prst="ellipse">
            <a:avLst/>
          </a:prstGeom>
          <a:solidFill>
            <a:srgbClr val="1C7293">
              <a:alpha val="7843"/>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1"/>
          <p:cNvSpPr/>
          <p:nvPr/>
        </p:nvSpPr>
        <p:spPr>
          <a:xfrm>
            <a:off x="-1097280" y="5669280"/>
            <a:ext cx="2194560" cy="2194560"/>
          </a:xfrm>
          <a:prstGeom prst="ellipse">
            <a:avLst/>
          </a:prstGeom>
          <a:solidFill>
            <a:srgbClr val="21295C">
              <a:alpha val="509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1"/>
          <p:cNvSpPr/>
          <p:nvPr/>
        </p:nvSpPr>
        <p:spPr>
          <a:xfrm>
            <a:off x="502920" y="457200"/>
            <a:ext cx="530352" cy="530352"/>
          </a:xfrm>
          <a:prstGeom prst="roundRect">
            <a:avLst>
              <a:gd fmla="val 20690" name="adj"/>
            </a:avLst>
          </a:prstGeom>
          <a:solidFill>
            <a:srgbClr val="21295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1"/>
          <p:cNvSpPr/>
          <p:nvPr/>
        </p:nvSpPr>
        <p:spPr>
          <a:xfrm>
            <a:off x="502920" y="457200"/>
            <a:ext cx="530352" cy="53035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08</a:t>
            </a:r>
            <a:endParaRPr b="0" i="0" sz="1600" u="none" cap="none" strike="noStrike">
              <a:solidFill>
                <a:schemeClr val="dk1"/>
              </a:solidFill>
              <a:latin typeface="Calibri"/>
              <a:ea typeface="Calibri"/>
              <a:cs typeface="Calibri"/>
              <a:sym typeface="Calibri"/>
            </a:endParaRPr>
          </a:p>
        </p:txBody>
      </p:sp>
      <p:sp>
        <p:nvSpPr>
          <p:cNvPr id="185" name="Google Shape;185;p11"/>
          <p:cNvSpPr/>
          <p:nvPr/>
        </p:nvSpPr>
        <p:spPr>
          <a:xfrm>
            <a:off x="1234440" y="429768"/>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C7293"/>
              </a:buClr>
              <a:buSzPts val="1100"/>
              <a:buFont typeface="Calibri"/>
              <a:buNone/>
            </a:pPr>
            <a:r>
              <a:rPr b="1" i="0" lang="en-US" sz="1100" u="none" cap="none" strike="noStrike">
                <a:solidFill>
                  <a:srgbClr val="1C7293"/>
                </a:solidFill>
                <a:latin typeface="Calibri"/>
                <a:ea typeface="Calibri"/>
                <a:cs typeface="Calibri"/>
                <a:sym typeface="Calibri"/>
              </a:rPr>
              <a:t>SECTION 08</a:t>
            </a:r>
            <a:endParaRPr b="0" i="0" sz="1100" u="none" cap="none" strike="noStrike">
              <a:solidFill>
                <a:schemeClr val="dk1"/>
              </a:solidFill>
              <a:latin typeface="Calibri"/>
              <a:ea typeface="Calibri"/>
              <a:cs typeface="Calibri"/>
              <a:sym typeface="Calibri"/>
            </a:endParaRPr>
          </a:p>
        </p:txBody>
      </p:sp>
      <p:sp>
        <p:nvSpPr>
          <p:cNvPr id="186" name="Google Shape;186;p11"/>
          <p:cNvSpPr/>
          <p:nvPr/>
        </p:nvSpPr>
        <p:spPr>
          <a:xfrm>
            <a:off x="1234440" y="676656"/>
            <a:ext cx="9692640" cy="56692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1295C"/>
              </a:buClr>
              <a:buSzPts val="3000"/>
              <a:buFont typeface="Cambria"/>
              <a:buNone/>
            </a:pPr>
            <a:r>
              <a:rPr b="1" i="0" lang="en-US" sz="3000" u="none" cap="none" strike="noStrike">
                <a:solidFill>
                  <a:srgbClr val="21295C"/>
                </a:solidFill>
                <a:latin typeface="Cambria"/>
                <a:ea typeface="Cambria"/>
                <a:cs typeface="Cambria"/>
                <a:sym typeface="Cambria"/>
              </a:rPr>
              <a:t>References</a:t>
            </a:r>
            <a:endParaRPr b="0" i="0" sz="3000" u="none" cap="none" strike="noStrike">
              <a:solidFill>
                <a:schemeClr val="dk1"/>
              </a:solidFill>
              <a:latin typeface="Calibri"/>
              <a:ea typeface="Calibri"/>
              <a:cs typeface="Calibri"/>
              <a:sym typeface="Calibri"/>
            </a:endParaRPr>
          </a:p>
        </p:txBody>
      </p:sp>
      <p:sp>
        <p:nvSpPr>
          <p:cNvPr id="188" name="Google Shape;188;p11"/>
          <p:cNvSpPr/>
          <p:nvPr/>
        </p:nvSpPr>
        <p:spPr>
          <a:xfrm>
            <a:off x="1249650" y="1450000"/>
            <a:ext cx="9692700" cy="4850000"/>
          </a:xfrm>
          <a:prstGeom prst="rect">
            <a:avLst/>
          </a:prstGeom>
          <a:noFill/>
          <a:ln>
            <a:noFill/>
          </a:ln>
        </p:spPr>
        <p:txBody>
          <a:bodyPr anchorCtr="0" anchor="t" bIns="45700" lIns="91425" spcFirstLastPara="1" rIns="91425" wrap="square" tIns="45700">
            <a:noAutofit/>
          </a:bodyPr>
          <a:lstStyle/>
          <a:p>
            <a:pPr marL="0" indent="0" lvl="0" rtl="0" algn="l">
              <a:lnSpc>
                <a:spcPct val="105000"/>
              </a:lnSpc>
              <a:spcBef>
                <a:spcPts val="0"/>
              </a:spcBef>
              <a:spcAft>
                <a:spcPts val="1000"/>
              </a:spcAft>
              <a:buNone/>
            </a:pPr>
            <a:r>
              <a:rPr lang="en-US" sz="1400" b="1" i="0" u="none" cap="none" strike="noStrike" dirty="0">
                <a:solidFill>
                  <a:srgbClr val="21295C"/>
                </a:solidFill>
                <a:latin typeface="Calibri"/>
                <a:ea typeface="Calibri"/>
                <a:cs typeface="Calibri"/>
                <a:sym typeface="Calibri"/>
              </a:rPr>
              <a:t>[1]  </a:t>
            </a:r>
            <a:r>
              <a:rPr lang="en-US" sz="1400" b="0" i="0" u="none" cap="none" strike="noStrike" dirty="0">
                <a:solidFill>
                  <a:srgbClr val="1B1F3B"/>
                </a:solidFill>
                <a:latin typeface="Calibri"/>
                <a:ea typeface="Calibri"/>
                <a:cs typeface="Calibri"/>
                <a:sym typeface="Calibri"/>
              </a:rPr>
              <a:t>K. Mahajan and J. S. Chitode, “Waste bin monitoring system using integrated technologies,” </a:t>
            </a:r>
            <a:r>
              <a:rPr lang="en-US" sz="1400" b="0" i="1" u="none" cap="none" strike="noStrike" dirty="0">
                <a:solidFill>
                  <a:srgbClr val="1B1F3B"/>
                </a:solidFill>
                <a:latin typeface="Calibri"/>
                <a:ea typeface="Calibri"/>
                <a:cs typeface="Calibri"/>
                <a:sym typeface="Calibri"/>
              </a:rPr>
              <a:t>Int. J. Innov. Res. Sci. Eng. Technol.</a:t>
            </a:r>
            <a:r>
              <a:rPr lang="en-US" sz="1400" b="0" i="0" u="none" cap="none" strike="noStrike" dirty="0">
                <a:solidFill>
                  <a:srgbClr val="1B1F3B"/>
                </a:solidFill>
                <a:latin typeface="Calibri"/>
                <a:ea typeface="Calibri"/>
                <a:cs typeface="Calibri"/>
                <a:sym typeface="Calibri"/>
              </a:rPr>
              <a:t>, vol. 3, no. 7, pp. 14953–14957, 2018.</a:t>
            </a:r>
          </a:p>
          <a:p>
            <a:pPr marL="0" indent="0" lvl="0" rtl="0" algn="l">
              <a:lnSpc>
                <a:spcPct val="105000"/>
              </a:lnSpc>
              <a:spcBef>
                <a:spcPts val="0"/>
              </a:spcBef>
              <a:spcAft>
                <a:spcPts val="1000"/>
              </a:spcAft>
              <a:buNone/>
            </a:pPr>
            <a:r>
              <a:rPr lang="en-US" sz="1400" b="1" i="0" u="none" cap="none" strike="noStrike" dirty="0">
                <a:solidFill>
                  <a:srgbClr val="21295C"/>
                </a:solidFill>
                <a:latin typeface="Calibri"/>
                <a:ea typeface="Calibri"/>
                <a:cs typeface="Calibri"/>
                <a:sym typeface="Calibri"/>
              </a:rPr>
              <a:t>[2]  </a:t>
            </a:r>
            <a:r>
              <a:rPr lang="en-US" sz="1400" b="0" i="0" u="none" cap="none" strike="noStrike" dirty="0">
                <a:solidFill>
                  <a:srgbClr val="1B1F3B"/>
                </a:solidFill>
                <a:latin typeface="Calibri"/>
                <a:ea typeface="Calibri"/>
                <a:cs typeface="Calibri"/>
                <a:sym typeface="Calibri"/>
              </a:rPr>
              <a:t>S. S. Navghane, M. S. Killedar, and V. M. Rohokale, “IoT based smart garbage and waste collection bin,” </a:t>
            </a:r>
            <a:r>
              <a:rPr lang="en-US" sz="1400" b="0" i="1" u="none" cap="none" strike="noStrike" dirty="0">
                <a:solidFill>
                  <a:srgbClr val="1B1F3B"/>
                </a:solidFill>
                <a:latin typeface="Calibri"/>
                <a:ea typeface="Calibri"/>
                <a:cs typeface="Calibri"/>
                <a:sym typeface="Calibri"/>
              </a:rPr>
              <a:t>Int. J. Adv. Res. Electron. Commun. Eng.</a:t>
            </a:r>
            <a:r>
              <a:rPr lang="en-US" sz="1400" b="0" i="0" u="none" cap="none" strike="noStrike" dirty="0">
                <a:solidFill>
                  <a:srgbClr val="1B1F3B"/>
                </a:solidFill>
                <a:latin typeface="Calibri"/>
                <a:ea typeface="Calibri"/>
                <a:cs typeface="Calibri"/>
                <a:sym typeface="Calibri"/>
              </a:rPr>
              <a:t>, vol. 5, no. 5, pp. 1576–1578, 2016.</a:t>
            </a:r>
          </a:p>
          <a:p>
            <a:pPr marL="0" indent="0" lvl="0" rtl="0" algn="l">
              <a:lnSpc>
                <a:spcPct val="105000"/>
              </a:lnSpc>
              <a:spcBef>
                <a:spcPts val="0"/>
              </a:spcBef>
              <a:spcAft>
                <a:spcPts val="1000"/>
              </a:spcAft>
              <a:buNone/>
            </a:pPr>
            <a:r>
              <a:rPr lang="en-US" sz="1400" b="1" i="0" u="none" cap="none" strike="noStrike" dirty="0">
                <a:solidFill>
                  <a:srgbClr val="21295C"/>
                </a:solidFill>
                <a:latin typeface="Calibri"/>
                <a:ea typeface="Calibri"/>
                <a:cs typeface="Calibri"/>
                <a:sym typeface="Calibri"/>
              </a:rPr>
              <a:t>[3]  </a:t>
            </a:r>
            <a:r>
              <a:rPr lang="en-US" sz="1400" b="0" i="0" u="none" cap="none" strike="noStrike" dirty="0">
                <a:solidFill>
                  <a:srgbClr val="1B1F3B"/>
                </a:solidFill>
                <a:latin typeface="Calibri"/>
                <a:ea typeface="Calibri"/>
                <a:cs typeface="Calibri"/>
                <a:sym typeface="Calibri"/>
              </a:rPr>
              <a:t>M. Al-Jabi, “Smart waste management system utilizing IoT,” in </a:t>
            </a:r>
            <a:r>
              <a:rPr lang="en-US" sz="1400" b="0" i="1" u="none" cap="none" strike="noStrike" dirty="0">
                <a:solidFill>
                  <a:srgbClr val="1B1F3B"/>
                </a:solidFill>
                <a:latin typeface="Calibri"/>
                <a:ea typeface="Calibri"/>
                <a:cs typeface="Calibri"/>
                <a:sym typeface="Calibri"/>
              </a:rPr>
              <a:t>Proc. IEEE Int. Conf. Internet of Things</a:t>
            </a:r>
            <a:r>
              <a:rPr lang="en-US" sz="1400" b="0" i="0" u="none" cap="none" strike="noStrike" dirty="0">
                <a:solidFill>
                  <a:srgbClr val="1B1F3B"/>
                </a:solidFill>
                <a:latin typeface="Calibri"/>
                <a:ea typeface="Calibri"/>
                <a:cs typeface="Calibri"/>
                <a:sym typeface="Calibri"/>
              </a:rPr>
              <a:t>, 2019, pp. 120–125.</a:t>
            </a:r>
          </a:p>
          <a:p>
            <a:pPr marL="0" indent="0" lvl="0" rtl="0" algn="l">
              <a:lnSpc>
                <a:spcPct val="105000"/>
              </a:lnSpc>
              <a:spcBef>
                <a:spcPts val="0"/>
              </a:spcBef>
              <a:spcAft>
                <a:spcPts val="1000"/>
              </a:spcAft>
              <a:buNone/>
            </a:pPr>
            <a:r>
              <a:rPr lang="en-US" sz="1400" b="1" i="0" u="none" cap="none" strike="noStrike" dirty="0">
                <a:solidFill>
                  <a:srgbClr val="21295C"/>
                </a:solidFill>
                <a:latin typeface="Calibri"/>
                <a:ea typeface="Calibri"/>
                <a:cs typeface="Calibri"/>
                <a:sym typeface="Calibri"/>
              </a:rPr>
              <a:t>[4]  </a:t>
            </a:r>
            <a:r>
              <a:rPr lang="en-US" sz="1400" b="0" i="0" u="none" cap="none" strike="noStrike" dirty="0">
                <a:solidFill>
                  <a:srgbClr val="1B1F3B"/>
                </a:solidFill>
                <a:latin typeface="Calibri"/>
                <a:ea typeface="Calibri"/>
                <a:cs typeface="Calibri"/>
                <a:sym typeface="Calibri"/>
              </a:rPr>
              <a:t>Espressif Systems, “ESP32 series datasheet,” 2023. [Accessed: Sep. 2026].</a:t>
            </a:r>
          </a:p>
          <a:p>
            <a:pPr marL="0" indent="0" lvl="0" rtl="0" algn="l">
              <a:lnSpc>
                <a:spcPct val="105000"/>
              </a:lnSpc>
              <a:spcBef>
                <a:spcPts val="0"/>
              </a:spcBef>
              <a:spcAft>
                <a:spcPts val="1000"/>
              </a:spcAft>
              <a:buNone/>
            </a:pPr>
            <a:r>
              <a:rPr lang="en-US" sz="1400" b="1" i="0" u="none" cap="none" strike="noStrike" dirty="0">
                <a:solidFill>
                  <a:srgbClr val="21295C"/>
                </a:solidFill>
                <a:latin typeface="Calibri"/>
                <a:ea typeface="Calibri"/>
                <a:cs typeface="Calibri"/>
                <a:sym typeface="Calibri"/>
              </a:rPr>
              <a:t>[5]  </a:t>
            </a:r>
            <a:r>
              <a:rPr lang="en-US" sz="1400" b="0" i="0" u="none" cap="none" strike="noStrike" dirty="0">
                <a:solidFill>
                  <a:srgbClr val="1B1F3B"/>
                </a:solidFill>
                <a:latin typeface="Calibri"/>
                <a:ea typeface="Calibri"/>
                <a:cs typeface="Calibri"/>
                <a:sym typeface="Calibri"/>
              </a:rPr>
              <a:t>MathWorks, “ThingSpeak IoT documentation,” 2024. [Accessed: Sep. 2026].</a:t>
            </a:r>
          </a:p>
        </p:txBody>
      </p:sp>
      <p:sp>
        <p:nvSpPr>
          <p:cNvPr id="189" name="Google Shape;189;p11"/>
          <p:cNvSpPr/>
          <p:nvPr/>
        </p:nvSpPr>
        <p:spPr>
          <a:xfrm>
            <a:off x="502920" y="6519672"/>
            <a:ext cx="73152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BCC351  ·  B.TECH MINI PROJECT PRESENTATION</a:t>
            </a:r>
            <a:endParaRPr b="0" i="0" sz="900" u="none" cap="none" strike="noStrike">
              <a:solidFill>
                <a:schemeClr val="dk1"/>
              </a:solidFill>
              <a:latin typeface="Calibri"/>
              <a:ea typeface="Calibri"/>
              <a:cs typeface="Calibri"/>
              <a:sym typeface="Calibri"/>
            </a:endParaRPr>
          </a:p>
        </p:txBody>
      </p:sp>
      <p:sp>
        <p:nvSpPr>
          <p:cNvPr id="190" name="Google Shape;190;p11"/>
          <p:cNvSpPr/>
          <p:nvPr/>
        </p:nvSpPr>
        <p:spPr>
          <a:xfrm>
            <a:off x="11228832" y="6519672"/>
            <a:ext cx="457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B7593"/>
              </a:buClr>
              <a:buSzPts val="900"/>
              <a:buFont typeface="Calibri"/>
              <a:buNone/>
            </a:pPr>
            <a:r>
              <a:rPr b="0" i="0" lang="en-US" sz="900" u="none" cap="none" strike="noStrike">
                <a:solidFill>
                  <a:srgbClr val="6B7593"/>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1295C"/>
        </a:solidFill>
      </p:bgPr>
    </p:bg>
    <p:spTree>
      <p:nvGrpSpPr>
        <p:cNvPr id="195" name="Shape 195"/>
        <p:cNvGrpSpPr/>
        <p:nvPr/>
      </p:nvGrpSpPr>
      <p:grpSpPr>
        <a:xfrm>
          <a:off x="0" y="0"/>
          <a:ext cx="0" cy="0"/>
          <a:chOff x="0" y="0"/>
          <a:chExt cx="0" cy="0"/>
        </a:xfrm>
      </p:grpSpPr>
      <p:sp>
        <p:nvSpPr>
          <p:cNvPr id="196" name="Google Shape;196;p12"/>
          <p:cNvSpPr/>
          <p:nvPr/>
        </p:nvSpPr>
        <p:spPr>
          <a:xfrm>
            <a:off x="10424160" y="-1463040"/>
            <a:ext cx="3108960" cy="3108960"/>
          </a:xfrm>
          <a:prstGeom prst="ellipse">
            <a:avLst/>
          </a:prstGeom>
          <a:solidFill>
            <a:srgbClr val="1C7293">
              <a:alpha val="1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2"/>
          <p:cNvSpPr/>
          <p:nvPr/>
        </p:nvSpPr>
        <p:spPr>
          <a:xfrm>
            <a:off x="-1097280" y="5669280"/>
            <a:ext cx="2194560" cy="2194560"/>
          </a:xfrm>
          <a:prstGeom prst="ellipse">
            <a:avLst/>
          </a:prstGeom>
          <a:solidFill>
            <a:srgbClr val="CFE3EE">
              <a:alpha val="1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12"/>
          <p:cNvSpPr/>
          <p:nvPr/>
        </p:nvSpPr>
        <p:spPr>
          <a:xfrm>
            <a:off x="914400" y="2468880"/>
            <a:ext cx="10360152" cy="10058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THANK YOU</a:t>
            </a:r>
            <a:endParaRPr b="0" i="0" sz="4800" u="none" cap="none" strike="noStrike">
              <a:solidFill>
                <a:schemeClr val="dk1"/>
              </a:solidFill>
              <a:latin typeface="Calibri"/>
              <a:ea typeface="Calibri"/>
              <a:cs typeface="Calibri"/>
              <a:sym typeface="Calibri"/>
            </a:endParaRPr>
          </a:p>
        </p:txBody>
      </p:sp>
      <p:sp>
        <p:nvSpPr>
          <p:cNvPr id="199" name="Google Shape;199;p12"/>
          <p:cNvSpPr/>
          <p:nvPr/>
        </p:nvSpPr>
        <p:spPr>
          <a:xfrm>
            <a:off x="914400" y="3520440"/>
            <a:ext cx="10360152"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FE3EE"/>
              </a:buClr>
              <a:buSzPts val="1600"/>
              <a:buFont typeface="Calibri"/>
              <a:buNone/>
            </a:pPr>
            <a:r>
              <a:rPr b="0" i="1" lang="en-US" sz="1600" u="none" cap="none" strike="noStrike">
                <a:solidFill>
                  <a:srgbClr val="CFE3EE"/>
                </a:solidFill>
                <a:latin typeface="Calibri"/>
                <a:ea typeface="Calibri"/>
                <a:cs typeface="Calibri"/>
                <a:sym typeface="Calibri"/>
              </a:rPr>
              <a:t>Questions &amp; suggestions are welcome</a:t>
            </a:r>
            <a:endParaRPr b="0" i="0" sz="1600" u="none" cap="none" strike="noStrike">
              <a:solidFill>
                <a:schemeClr val="dk1"/>
              </a:solidFill>
              <a:latin typeface="Calibri"/>
              <a:ea typeface="Calibri"/>
              <a:cs typeface="Calibri"/>
              <a:sym typeface="Calibri"/>
            </a:endParaRPr>
          </a:p>
        </p:txBody>
      </p:sp>
      <p:cxnSp>
        <p:nvCxnSpPr>
          <p:cNvPr id="200" name="Google Shape;200;p12"/>
          <p:cNvCxnSpPr/>
          <p:nvPr/>
        </p:nvCxnSpPr>
        <p:spPr>
          <a:xfrm>
            <a:off x="5271516" y="4160520"/>
            <a:ext cx="1645920" cy="0"/>
          </a:xfrm>
          <a:prstGeom prst="straightConnector1">
            <a:avLst/>
          </a:prstGeom>
          <a:noFill/>
          <a:ln cap="flat" cmpd="sng" w="25400">
            <a:solidFill>
              <a:srgbClr val="1C7293"/>
            </a:solidFill>
            <a:prstDash val="solid"/>
            <a:round/>
            <a:headEnd len="sm" w="sm" type="none"/>
            <a:tailEnd len="sm" w="sm" type="none"/>
          </a:ln>
        </p:spPr>
      </p:cxnSp>
      <p:sp>
        <p:nvSpPr>
          <p:cNvPr id="201" name="Google Shape;201;p12"/>
          <p:cNvSpPr/>
          <p:nvPr/>
        </p:nvSpPr>
        <p:spPr>
          <a:xfrm>
            <a:off x="915925" y="4559880"/>
            <a:ext cx="103602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CFE3EE"/>
              </a:buClr>
              <a:buSzPts val="1100"/>
              <a:buFont typeface="Calibri"/>
              <a:buNone/>
            </a:pPr>
            <a:r>
              <a:rPr b="0" i="0" lang="en-US" sz="1300" u="none" cap="none" strike="noStrike">
                <a:solidFill>
                  <a:srgbClr val="CFE3EE"/>
                </a:solidFill>
                <a:latin typeface="Calibri"/>
                <a:ea typeface="Calibri"/>
                <a:cs typeface="Calibri"/>
                <a:sym typeface="Calibri"/>
              </a:rPr>
              <a:t>Lloyd Institute of Engineering &amp; Technology, Greater Noida</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